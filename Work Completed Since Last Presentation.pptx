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" charset="1" panose="020B0503030501040103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jpeg" Type="http://schemas.openxmlformats.org/officeDocument/2006/relationships/image"/><Relationship Id="rId4" Target="../media/VAG53ai5TLk.mp4" Type="http://schemas.openxmlformats.org/officeDocument/2006/relationships/video"/><Relationship Id="rId5" Target="../media/VAG53ai5TLk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"/>
            <a:ext cx="9732773" cy="9258300"/>
          </a:xfrm>
          <a:custGeom>
            <a:avLst/>
            <a:gdLst/>
            <a:ahLst/>
            <a:cxnLst/>
            <a:rect r="r" b="b" t="t" l="l"/>
            <a:pathLst>
              <a:path h="9258300" w="9732773">
                <a:moveTo>
                  <a:pt x="0" y="0"/>
                </a:moveTo>
                <a:lnTo>
                  <a:pt x="9732773" y="0"/>
                </a:lnTo>
                <a:lnTo>
                  <a:pt x="9732773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11643" y="1849328"/>
            <a:ext cx="8376357" cy="730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Title: NLP for Quality Control Reports in Production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Objective:Automating quality inspection in production lines using image classification and defect-report text analysis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Course: MDM-09 Case Study: Intelligent Systems in Production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by: Teja Tadisetty,Boshi Zhao, Anandu Hari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Guided by: Dr.Hamidreza Heidari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Date: November 27, 2025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5657" y="177634"/>
            <a:ext cx="17356687" cy="68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Progress Made Since Last Update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1689" y="809445"/>
            <a:ext cx="16230600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Collection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950277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191853" y="2904547"/>
            <a:ext cx="7895393" cy="4060982"/>
          </a:xfrm>
          <a:custGeom>
            <a:avLst/>
            <a:gdLst/>
            <a:ahLst/>
            <a:cxnLst/>
            <a:rect r="r" b="b" t="t" l="l"/>
            <a:pathLst>
              <a:path h="4060982" w="7895393">
                <a:moveTo>
                  <a:pt x="0" y="0"/>
                </a:moveTo>
                <a:lnTo>
                  <a:pt x="7895394" y="0"/>
                </a:lnTo>
                <a:lnTo>
                  <a:pt x="7895394" y="4060982"/>
                </a:lnTo>
                <a:lnTo>
                  <a:pt x="0" y="406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333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72689"/>
            <a:ext cx="1623060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Selected 2 datasets(defective and clean).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Performed data cleaning and balancing.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train/ testfolder structure.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1689" y="2896689"/>
            <a:ext cx="16230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Development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7323" y="3353889"/>
            <a:ext cx="1605657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a custom CNN image classifier.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Trained on 128*128 resized images.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Achieved 100% accuracy due to clean dataset.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982663"/>
            <a:ext cx="16404622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Generated loss/accuracy plots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Generated confusion matrix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Performed defect frequency analysis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Generated word cloud via NLP module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Step Preperation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 ready for conveyor belt simulation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saved in .keras format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6270" y="38112"/>
            <a:ext cx="1623060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6270" y="514350"/>
            <a:ext cx="16230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Collection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6270" y="1129120"/>
            <a:ext cx="162306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A (Defective):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Mendemukesh – 3999 defective bottle images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B (Good):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Chethuhn – ~486 clean bottle images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6270" y="1962150"/>
            <a:ext cx="162306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6270" y="2952750"/>
            <a:ext cx="16230600" cy="69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Resize images to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128×128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Normalize to 0-1 range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balanced dataset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80/20 train-test split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Architecture(CNN)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3× Conv2D layers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3× MaxPooling2D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Flatten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Dense + Dropout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Softmax (2 classes → good/defective)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189224"/>
            <a:ext cx="8115300" cy="5253966"/>
          </a:xfrm>
          <a:custGeom>
            <a:avLst/>
            <a:gdLst/>
            <a:ahLst/>
            <a:cxnLst/>
            <a:rect r="r" b="b" t="t" l="l"/>
            <a:pathLst>
              <a:path h="5253966" w="8115300">
                <a:moveTo>
                  <a:pt x="0" y="0"/>
                </a:moveTo>
                <a:lnTo>
                  <a:pt x="8115300" y="0"/>
                </a:lnTo>
                <a:lnTo>
                  <a:pt x="8115300" y="5253966"/>
                </a:lnTo>
                <a:lnTo>
                  <a:pt x="0" y="525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230" r="0" b="-272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30005"/>
            <a:ext cx="16230600" cy="444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 Techniques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Accuracy/loss curves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Confusion matrix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Prediction/Recall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NLP Add-On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cloud of defect types 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Frequency distribution of defect labels</a:t>
            </a:r>
          </a:p>
          <a:p>
            <a:pPr algn="l">
              <a:lnSpc>
                <a:spcPts val="39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383"/>
            <a:ext cx="162306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Sources Locked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8677" y="719683"/>
            <a:ext cx="1603064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finalized the following datasets: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A: Mendemukesh — Bottle Defects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534390" y="1767433"/>
            <a:ext cx="9254717" cy="5298325"/>
          </a:xfrm>
          <a:custGeom>
            <a:avLst/>
            <a:gdLst/>
            <a:ahLst/>
            <a:cxnLst/>
            <a:rect r="r" b="b" t="t" l="l"/>
            <a:pathLst>
              <a:path h="5298325" w="9254717">
                <a:moveTo>
                  <a:pt x="0" y="0"/>
                </a:moveTo>
                <a:lnTo>
                  <a:pt x="9254717" y="0"/>
                </a:lnTo>
                <a:lnTo>
                  <a:pt x="9254717" y="5298325"/>
                </a:lnTo>
                <a:lnTo>
                  <a:pt x="0" y="5298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28677" y="1710283"/>
            <a:ext cx="16030646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Contains various defect types: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eformed caps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rushed bottles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Label missing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cratches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eneric defect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24957"/>
            <a:ext cx="16030646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Contains clean bottles: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Upright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Stable shape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Good lighting conditions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B: Chethuhn — Water Bottle Dataset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these are LOCKED</a:t>
            </a: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Perfect contrast between good/defective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 dataset → better generalization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Suitable for real factory simulation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96377" y="684337"/>
            <a:ext cx="4089755" cy="4089755"/>
          </a:xfrm>
          <a:custGeom>
            <a:avLst/>
            <a:gdLst/>
            <a:ahLst/>
            <a:cxnLst/>
            <a:rect r="r" b="b" t="t" l="l"/>
            <a:pathLst>
              <a:path h="4089755" w="4089755">
                <a:moveTo>
                  <a:pt x="0" y="0"/>
                </a:moveTo>
                <a:lnTo>
                  <a:pt x="4089755" y="0"/>
                </a:lnTo>
                <a:lnTo>
                  <a:pt x="4089755" y="4089755"/>
                </a:lnTo>
                <a:lnTo>
                  <a:pt x="0" y="4089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57970" y="3945904"/>
            <a:ext cx="5535342" cy="5535342"/>
          </a:xfrm>
          <a:custGeom>
            <a:avLst/>
            <a:gdLst/>
            <a:ahLst/>
            <a:cxnLst/>
            <a:rect r="r" b="b" t="t" l="l"/>
            <a:pathLst>
              <a:path h="5535342" w="5535342">
                <a:moveTo>
                  <a:pt x="0" y="0"/>
                </a:moveTo>
                <a:lnTo>
                  <a:pt x="5535342" y="0"/>
                </a:lnTo>
                <a:lnTo>
                  <a:pt x="5535342" y="5535342"/>
                </a:lnTo>
                <a:lnTo>
                  <a:pt x="0" y="5535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73976"/>
            <a:ext cx="162306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Lighting variation in real factory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Motion blur due to conveyor speed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Different bottle shapes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Domain shift (real vs dataset images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3198"/>
            <a:ext cx="162306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&amp; Ethics</a:t>
            </a: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76673"/>
            <a:ext cx="16230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Risks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52003"/>
            <a:ext cx="16230600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Ethical + Operational Considerations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human data → no privacy issues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manual inspection stress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Improves worker safety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Transparent AI → explainable predictions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67963" y="2022285"/>
            <a:ext cx="9691337" cy="6242430"/>
          </a:xfrm>
          <a:custGeom>
            <a:avLst/>
            <a:gdLst/>
            <a:ahLst/>
            <a:cxnLst/>
            <a:rect r="r" b="b" t="t" l="l"/>
            <a:pathLst>
              <a:path h="6242430" w="9691337">
                <a:moveTo>
                  <a:pt x="0" y="0"/>
                </a:moveTo>
                <a:lnTo>
                  <a:pt x="9691337" y="0"/>
                </a:lnTo>
                <a:lnTo>
                  <a:pt x="9691337" y="6242430"/>
                </a:lnTo>
                <a:lnTo>
                  <a:pt x="0" y="6242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806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52062"/>
            <a:ext cx="162306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Feature Progress &amp; Unit Testing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Completed Features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loader module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Preprocessing pipeline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CNN training module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evaluation scripts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NLP analysis script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saving (.keras)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76825"/>
            <a:ext cx="16230600" cy="351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Unit Tests Completed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File existence check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Folder structure validation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Image corruption test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 mapping consistency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7670" y="2621413"/>
            <a:ext cx="9489101" cy="5930688"/>
          </a:xfrm>
          <a:custGeom>
            <a:avLst/>
            <a:gdLst/>
            <a:ahLst/>
            <a:cxnLst/>
            <a:rect r="r" b="b" t="t" l="l"/>
            <a:pathLst>
              <a:path h="5930688" w="9489101">
                <a:moveTo>
                  <a:pt x="0" y="0"/>
                </a:moveTo>
                <a:lnTo>
                  <a:pt x="9489101" y="0"/>
                </a:lnTo>
                <a:lnTo>
                  <a:pt x="9489101" y="5930688"/>
                </a:lnTo>
                <a:lnTo>
                  <a:pt x="0" y="5930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16230600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 Status (Continuous Integration)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Jupyter/Colab notebook runs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end-to-end without manual intervention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Issues identified earlier: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Folder structure mismatch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Wrong labels.csv format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 imbalance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Confusion matrix error (fixed)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676265"/>
            <a:ext cx="1623060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Pending: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 conveyor belt video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Motion blur testing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FPS optimization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-85725"/>
            <a:ext cx="16230600" cy="68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 Status + Issues Board</a:t>
            </a:r>
            <a:r>
              <a:rPr lang="en-US" sz="4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54965" y="3521405"/>
            <a:ext cx="9676504" cy="5276495"/>
          </a:xfrm>
          <a:custGeom>
            <a:avLst/>
            <a:gdLst/>
            <a:ahLst/>
            <a:cxnLst/>
            <a:rect r="r" b="b" t="t" l="l"/>
            <a:pathLst>
              <a:path h="5276495" w="9676504">
                <a:moveTo>
                  <a:pt x="0" y="0"/>
                </a:moveTo>
                <a:lnTo>
                  <a:pt x="9676504" y="0"/>
                </a:lnTo>
                <a:lnTo>
                  <a:pt x="9676504" y="5276495"/>
                </a:lnTo>
                <a:lnTo>
                  <a:pt x="0" y="527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984" r="0" b="-1855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71550"/>
            <a:ext cx="16230600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Tests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Assembly Status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are preparing the conveyor belt simulation module.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Completed: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pipeline connected to model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Batch and single-image testing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Defect prediction verified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FPS control module ready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Camera feed simulation ready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885940"/>
            <a:ext cx="162306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Bring-Up Tests Done: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Single image prediction → pass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Folder prediction → pass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loading → pass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9250"/>
            <a:ext cx="162306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Assembly Progress / Bring-Up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2500" y="5441072"/>
            <a:ext cx="7528837" cy="4608486"/>
          </a:xfrm>
          <a:custGeom>
            <a:avLst/>
            <a:gdLst/>
            <a:ahLst/>
            <a:cxnLst/>
            <a:rect r="r" b="b" t="t" l="l"/>
            <a:pathLst>
              <a:path h="4608486" w="7528837">
                <a:moveTo>
                  <a:pt x="0" y="0"/>
                </a:moveTo>
                <a:lnTo>
                  <a:pt x="7528838" y="0"/>
                </a:lnTo>
                <a:lnTo>
                  <a:pt x="7528838" y="4608486"/>
                </a:lnTo>
                <a:lnTo>
                  <a:pt x="0" y="4608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06642" y="5441072"/>
            <a:ext cx="7935027" cy="4845928"/>
          </a:xfrm>
          <a:custGeom>
            <a:avLst/>
            <a:gdLst/>
            <a:ahLst/>
            <a:cxnLst/>
            <a:rect r="r" b="b" t="t" l="l"/>
            <a:pathLst>
              <a:path h="4845928" w="7935027">
                <a:moveTo>
                  <a:pt x="0" y="0"/>
                </a:moveTo>
                <a:lnTo>
                  <a:pt x="7935026" y="0"/>
                </a:lnTo>
                <a:lnTo>
                  <a:pt x="7935026" y="4845928"/>
                </a:lnTo>
                <a:lnTo>
                  <a:pt x="0" y="484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2" t="-1256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3800" y="971550"/>
            <a:ext cx="162306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Scores: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Training Accuracy: 100%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Validation Accuracy: 100%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Loss: ~0 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accuracy is because the datasets are clean, well-labeled, and defects are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visually distinct. Real-world performance will be lower. The December milestone will validate real production line images.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9250"/>
            <a:ext cx="162306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CNN Results (Accuracy &amp; Loss)</a:t>
            </a: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12407" y="4198260"/>
            <a:ext cx="8463187" cy="5784717"/>
          </a:xfrm>
          <a:custGeom>
            <a:avLst/>
            <a:gdLst/>
            <a:ahLst/>
            <a:cxnLst/>
            <a:rect r="r" b="b" t="t" l="l"/>
            <a:pathLst>
              <a:path h="5784717" w="8463187">
                <a:moveTo>
                  <a:pt x="0" y="0"/>
                </a:moveTo>
                <a:lnTo>
                  <a:pt x="8463186" y="0"/>
                </a:lnTo>
                <a:lnTo>
                  <a:pt x="8463186" y="5784717"/>
                </a:lnTo>
                <a:lnTo>
                  <a:pt x="0" y="5784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" t="-1600" r="-89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61992"/>
            <a:ext cx="1623060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Interpretation: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detected all 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800 defective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correctly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detected all 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800 good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correctly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misclassifications → overfitting likely, but acceptable for demo stage 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4953"/>
            <a:ext cx="162306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Confusion Matrix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16230600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project includes NLP because we analyze the text-based defect labels using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WordCloud &amp; frequency distribution.” 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Outputs: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Defect Type Frequency Graph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eneric_defect: 3999 images → most common defect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Word Cloud Visualization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defect categories prominence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493371" y="6296638"/>
            <a:ext cx="11301259" cy="3990362"/>
          </a:xfrm>
          <a:custGeom>
            <a:avLst/>
            <a:gdLst/>
            <a:ahLst/>
            <a:cxnLst/>
            <a:rect r="r" b="b" t="t" l="l"/>
            <a:pathLst>
              <a:path h="3990362" w="11301259">
                <a:moveTo>
                  <a:pt x="0" y="0"/>
                </a:moveTo>
                <a:lnTo>
                  <a:pt x="11301258" y="0"/>
                </a:lnTo>
                <a:lnTo>
                  <a:pt x="11301258" y="3990362"/>
                </a:lnTo>
                <a:lnTo>
                  <a:pt x="0" y="3990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20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4953"/>
            <a:ext cx="162306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NLP Module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162306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Conveyor Belt Simulation (Main Task)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Capture frames via webcam/video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Preprocess frames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Feed into model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 defective bottles (red box)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Export JSON/CSV of detection events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9250"/>
            <a:ext cx="162306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Steps (Dec 18 Presentation)</a:t>
            </a:r>
            <a:r>
              <a:rPr lang="en-US" sz="3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825" r="1596" b="12313"/>
          <a:stretch>
            <a:fillRect/>
          </a:stretch>
        </p:blipFill>
        <p:spPr>
          <a:xfrm flipH="false" flipV="false" rot="0">
            <a:off x="8609190" y="2282027"/>
            <a:ext cx="9524283" cy="472900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4903506"/>
            <a:ext cx="1623060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Planned Experiments:</a:t>
            </a: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 in poor lighting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Rotated bottle detection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Conveyor speed variation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40752" y="0"/>
            <a:ext cx="2347248" cy="1161482"/>
          </a:xfrm>
          <a:custGeom>
            <a:avLst/>
            <a:gdLst/>
            <a:ahLst/>
            <a:cxnLst/>
            <a:rect r="r" b="b" t="t" l="l"/>
            <a:pathLst>
              <a:path h="1161482" w="2347248">
                <a:moveTo>
                  <a:pt x="0" y="0"/>
                </a:moveTo>
                <a:lnTo>
                  <a:pt x="2347248" y="0"/>
                </a:lnTo>
                <a:lnTo>
                  <a:pt x="2347248" y="1161482"/>
                </a:lnTo>
                <a:lnTo>
                  <a:pt x="0" y="1161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510" t="0" r="-1028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8210371" y="4829175"/>
            <a:ext cx="4050166" cy="69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DAG5wuRy5Y0</dc:identifier>
  <dcterms:modified xsi:type="dcterms:W3CDTF">2011-08-01T06:04:30Z</dcterms:modified>
  <cp:revision>1</cp:revision>
  <dc:title>Work Completed Since Last Presentation</dc:title>
</cp:coreProperties>
</file>