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7" r:id="rId7"/>
    <p:sldId id="268" r:id="rId8"/>
    <p:sldId id="262" r:id="rId9"/>
    <p:sldId id="269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928" autoAdjust="0"/>
    <p:restoredTop sz="94705"/>
  </p:normalViewPr>
  <p:slideViewPr>
    <p:cSldViewPr snapToGrid="0">
      <p:cViewPr varScale="1">
        <p:scale>
          <a:sx n="78" d="100"/>
          <a:sy n="78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7F86D4-E6FC-E645-B68C-05F9365FE979}" type="doc">
      <dgm:prSet loTypeId="urn:microsoft.com/office/officeart/2005/8/layout/hProcess9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362940C-3023-2640-A03D-721C0815FCBE}">
      <dgm:prSet phldrT="[文本]" custT="1"/>
      <dgm:spPr/>
      <dgm:t>
        <a:bodyPr/>
        <a:lstStyle/>
        <a:p>
          <a:pPr>
            <a:buNone/>
          </a:pPr>
          <a:r>
            <a:rPr lang="en-US" sz="1400" dirty="0"/>
            <a:t>Video</a:t>
          </a:r>
          <a:endParaRPr lang="zh-CN" altLang="en-US" sz="1400" dirty="0"/>
        </a:p>
      </dgm:t>
    </dgm:pt>
    <dgm:pt modelId="{EE7D1713-F680-984E-B068-31A1BB60B2A9}" type="parTrans" cxnId="{E946F54E-AF0F-8B47-9FB8-9BB736895520}">
      <dgm:prSet/>
      <dgm:spPr/>
      <dgm:t>
        <a:bodyPr/>
        <a:lstStyle/>
        <a:p>
          <a:endParaRPr lang="zh-CN" altLang="en-US"/>
        </a:p>
      </dgm:t>
    </dgm:pt>
    <dgm:pt modelId="{196FD533-83C8-4742-A9E9-94CC65422900}" type="sibTrans" cxnId="{E946F54E-AF0F-8B47-9FB8-9BB736895520}">
      <dgm:prSet/>
      <dgm:spPr/>
      <dgm:t>
        <a:bodyPr/>
        <a:lstStyle/>
        <a:p>
          <a:endParaRPr lang="zh-CN" altLang="en-US"/>
        </a:p>
      </dgm:t>
    </dgm:pt>
    <dgm:pt modelId="{6DFCD6E6-E3CA-174E-A231-30B07F1D494B}">
      <dgm:prSet phldrT="[文本]" custT="1"/>
      <dgm:spPr/>
      <dgm:t>
        <a:bodyPr/>
        <a:lstStyle/>
        <a:p>
          <a:pPr>
            <a:buNone/>
          </a:pPr>
          <a:r>
            <a:rPr lang="en-US" sz="1400" dirty="0"/>
            <a:t>Frame Extraction</a:t>
          </a:r>
          <a:endParaRPr lang="zh-CN" altLang="en-US" sz="1400" dirty="0"/>
        </a:p>
      </dgm:t>
    </dgm:pt>
    <dgm:pt modelId="{C2961948-7C96-9D40-A6BD-04CA209BC495}" type="parTrans" cxnId="{C6E57E5F-94CE-5544-AAFF-B9886BE2D322}">
      <dgm:prSet/>
      <dgm:spPr/>
      <dgm:t>
        <a:bodyPr/>
        <a:lstStyle/>
        <a:p>
          <a:endParaRPr lang="zh-CN" altLang="en-US"/>
        </a:p>
      </dgm:t>
    </dgm:pt>
    <dgm:pt modelId="{E3722C6A-C2E1-334A-81C3-921E6C239892}" type="sibTrans" cxnId="{C6E57E5F-94CE-5544-AAFF-B9886BE2D322}">
      <dgm:prSet/>
      <dgm:spPr/>
      <dgm:t>
        <a:bodyPr/>
        <a:lstStyle/>
        <a:p>
          <a:endParaRPr lang="zh-CN" altLang="en-US"/>
        </a:p>
      </dgm:t>
    </dgm:pt>
    <dgm:pt modelId="{6A193E7C-B060-FA45-9318-6D96F6DDEDCE}">
      <dgm:prSet phldrT="[文本]" custT="1"/>
      <dgm:spPr/>
      <dgm:t>
        <a:bodyPr/>
        <a:lstStyle/>
        <a:p>
          <a:pPr>
            <a:buNone/>
          </a:pPr>
          <a:r>
            <a:rPr lang="en-US" sz="1400" dirty="0"/>
            <a:t>Preprocessing</a:t>
          </a:r>
          <a:endParaRPr lang="zh-CN" altLang="en-US" sz="1400" dirty="0"/>
        </a:p>
      </dgm:t>
    </dgm:pt>
    <dgm:pt modelId="{B1D4E87F-D2B9-A44F-8FDF-582B7D0A34F2}" type="parTrans" cxnId="{97B2D8B5-8265-DF46-9E24-9560EEDA818B}">
      <dgm:prSet/>
      <dgm:spPr/>
      <dgm:t>
        <a:bodyPr/>
        <a:lstStyle/>
        <a:p>
          <a:endParaRPr lang="zh-CN" altLang="en-US"/>
        </a:p>
      </dgm:t>
    </dgm:pt>
    <dgm:pt modelId="{CD28190D-B009-904D-BF9E-3C3972E8F5D8}" type="sibTrans" cxnId="{97B2D8B5-8265-DF46-9E24-9560EEDA818B}">
      <dgm:prSet/>
      <dgm:spPr/>
      <dgm:t>
        <a:bodyPr/>
        <a:lstStyle/>
        <a:p>
          <a:endParaRPr lang="zh-CN" altLang="en-US"/>
        </a:p>
      </dgm:t>
    </dgm:pt>
    <dgm:pt modelId="{BBFEEDD1-7DDD-7149-B546-162BFD2EF385}">
      <dgm:prSet custT="1"/>
      <dgm:spPr/>
      <dgm:t>
        <a:bodyPr/>
        <a:lstStyle/>
        <a:p>
          <a:pPr>
            <a:buNone/>
          </a:pPr>
          <a:r>
            <a:rPr lang="en-US" sz="1400" dirty="0"/>
            <a:t>CNN Model</a:t>
          </a:r>
          <a:endParaRPr lang="zh-CN" altLang="en-US" sz="1400" dirty="0"/>
        </a:p>
      </dgm:t>
    </dgm:pt>
    <dgm:pt modelId="{203B711A-E744-C846-B2C0-E4B4DEC721A9}" type="parTrans" cxnId="{700842BC-629E-E847-A610-F5189841DAD1}">
      <dgm:prSet/>
      <dgm:spPr/>
      <dgm:t>
        <a:bodyPr/>
        <a:lstStyle/>
        <a:p>
          <a:endParaRPr lang="zh-CN" altLang="en-US"/>
        </a:p>
      </dgm:t>
    </dgm:pt>
    <dgm:pt modelId="{2EF563C4-4C92-E64C-8BD5-5ADDFF77D02C}" type="sibTrans" cxnId="{700842BC-629E-E847-A610-F5189841DAD1}">
      <dgm:prSet/>
      <dgm:spPr/>
      <dgm:t>
        <a:bodyPr/>
        <a:lstStyle/>
        <a:p>
          <a:endParaRPr lang="zh-CN" altLang="en-US"/>
        </a:p>
      </dgm:t>
    </dgm:pt>
    <dgm:pt modelId="{8CD41336-D0AB-3740-88AC-6076B17F34FF}">
      <dgm:prSet custT="1"/>
      <dgm:spPr/>
      <dgm:t>
        <a:bodyPr/>
        <a:lstStyle/>
        <a:p>
          <a:pPr>
            <a:buNone/>
          </a:pPr>
          <a:r>
            <a:rPr lang="en-US" sz="1400" dirty="0"/>
            <a:t>Classification</a:t>
          </a:r>
          <a:endParaRPr lang="zh-CN" altLang="en-US" sz="1400" dirty="0"/>
        </a:p>
      </dgm:t>
    </dgm:pt>
    <dgm:pt modelId="{49842F00-E900-7E45-AC70-1AE483ECC9E3}" type="parTrans" cxnId="{8B582BF1-BA9D-8C4A-8603-27CC13A63F33}">
      <dgm:prSet/>
      <dgm:spPr/>
      <dgm:t>
        <a:bodyPr/>
        <a:lstStyle/>
        <a:p>
          <a:endParaRPr lang="zh-CN" altLang="en-US"/>
        </a:p>
      </dgm:t>
    </dgm:pt>
    <dgm:pt modelId="{0561AC99-BDC8-4841-BE31-D41F81137E85}" type="sibTrans" cxnId="{8B582BF1-BA9D-8C4A-8603-27CC13A63F33}">
      <dgm:prSet/>
      <dgm:spPr/>
      <dgm:t>
        <a:bodyPr/>
        <a:lstStyle/>
        <a:p>
          <a:endParaRPr lang="zh-CN" altLang="en-US"/>
        </a:p>
      </dgm:t>
    </dgm:pt>
    <dgm:pt modelId="{2CB19FB0-66D9-034C-8EA6-F0995F209281}">
      <dgm:prSet custT="1"/>
      <dgm:spPr/>
      <dgm:t>
        <a:bodyPr/>
        <a:lstStyle/>
        <a:p>
          <a:pPr>
            <a:buNone/>
          </a:pPr>
          <a:r>
            <a:rPr lang="en-US" sz="1400"/>
            <a:t>Defect Logic</a:t>
          </a:r>
          <a:endParaRPr lang="zh-CN" altLang="en-US" sz="1400" dirty="0"/>
        </a:p>
      </dgm:t>
    </dgm:pt>
    <dgm:pt modelId="{610D046B-D18A-2B4D-A4A4-C2199EFA6C04}" type="parTrans" cxnId="{0E05C7F9-9E3F-7E43-A8DC-8688226C5B19}">
      <dgm:prSet/>
      <dgm:spPr/>
      <dgm:t>
        <a:bodyPr/>
        <a:lstStyle/>
        <a:p>
          <a:endParaRPr lang="zh-CN" altLang="en-US"/>
        </a:p>
      </dgm:t>
    </dgm:pt>
    <dgm:pt modelId="{866A4473-0C66-ED43-81CF-F0933A99AF02}" type="sibTrans" cxnId="{0E05C7F9-9E3F-7E43-A8DC-8688226C5B19}">
      <dgm:prSet/>
      <dgm:spPr/>
      <dgm:t>
        <a:bodyPr/>
        <a:lstStyle/>
        <a:p>
          <a:endParaRPr lang="zh-CN" altLang="en-US"/>
        </a:p>
      </dgm:t>
    </dgm:pt>
    <dgm:pt modelId="{E170A116-3E05-654D-9118-790C04780642}">
      <dgm:prSet custT="1"/>
      <dgm:spPr/>
      <dgm:t>
        <a:bodyPr/>
        <a:lstStyle/>
        <a:p>
          <a:pPr>
            <a:buNone/>
          </a:pPr>
          <a:r>
            <a:rPr lang="en-US" sz="1400"/>
            <a:t>Status Panel </a:t>
          </a:r>
          <a:endParaRPr lang="zh-CN" altLang="en-US" sz="1400" dirty="0"/>
        </a:p>
      </dgm:t>
    </dgm:pt>
    <dgm:pt modelId="{7928CC85-CCF1-EF4B-BAAC-AFBECC301F67}" type="parTrans" cxnId="{F84555C0-D4B3-BF4B-B895-104595551CE4}">
      <dgm:prSet/>
      <dgm:spPr/>
      <dgm:t>
        <a:bodyPr/>
        <a:lstStyle/>
        <a:p>
          <a:endParaRPr lang="zh-CN" altLang="en-US"/>
        </a:p>
      </dgm:t>
    </dgm:pt>
    <dgm:pt modelId="{D76CCAE6-62AB-294D-9AB2-BE19816F8C8E}" type="sibTrans" cxnId="{F84555C0-D4B3-BF4B-B895-104595551CE4}">
      <dgm:prSet/>
      <dgm:spPr/>
      <dgm:t>
        <a:bodyPr/>
        <a:lstStyle/>
        <a:p>
          <a:endParaRPr lang="zh-CN" altLang="en-US"/>
        </a:p>
      </dgm:t>
    </dgm:pt>
    <dgm:pt modelId="{5243971E-3F56-E746-9DA4-7A7B7A8C746E}">
      <dgm:prSet custT="1"/>
      <dgm:spPr>
        <a:solidFill>
          <a:schemeClr val="accent1">
            <a:hueOff val="0"/>
            <a:satOff val="0"/>
            <a:lumOff val="0"/>
          </a:schemeClr>
        </a:solidFill>
      </dgm:spPr>
      <dgm:t>
        <a:bodyPr/>
        <a:lstStyle/>
        <a:p>
          <a:pPr>
            <a:buNone/>
          </a:pPr>
          <a:r>
            <a:rPr lang="en-US" sz="1400"/>
            <a:t>Final Output Video</a:t>
          </a:r>
          <a:endParaRPr lang="zh-CN" altLang="en-US" sz="1400" dirty="0"/>
        </a:p>
      </dgm:t>
    </dgm:pt>
    <dgm:pt modelId="{CCD76A4B-DCFC-FF40-84B3-EAE0F697EC28}" type="parTrans" cxnId="{49BDFF64-3306-854E-820E-70E7CC5793E4}">
      <dgm:prSet/>
      <dgm:spPr/>
      <dgm:t>
        <a:bodyPr/>
        <a:lstStyle/>
        <a:p>
          <a:endParaRPr lang="zh-CN" altLang="en-US"/>
        </a:p>
      </dgm:t>
    </dgm:pt>
    <dgm:pt modelId="{799890F5-A31F-284D-8146-BF19331A782C}" type="sibTrans" cxnId="{49BDFF64-3306-854E-820E-70E7CC5793E4}">
      <dgm:prSet/>
      <dgm:spPr/>
      <dgm:t>
        <a:bodyPr/>
        <a:lstStyle/>
        <a:p>
          <a:endParaRPr lang="zh-CN" altLang="en-US"/>
        </a:p>
      </dgm:t>
    </dgm:pt>
    <dgm:pt modelId="{B077362C-A471-A24B-8C61-85081505E322}" type="pres">
      <dgm:prSet presAssocID="{1E7F86D4-E6FC-E645-B68C-05F9365FE979}" presName="CompostProcess" presStyleCnt="0">
        <dgm:presLayoutVars>
          <dgm:dir/>
          <dgm:resizeHandles val="exact"/>
        </dgm:presLayoutVars>
      </dgm:prSet>
      <dgm:spPr/>
    </dgm:pt>
    <dgm:pt modelId="{DADE6F4A-B01B-2447-8E06-95E6CFC87A56}" type="pres">
      <dgm:prSet presAssocID="{1E7F86D4-E6FC-E645-B68C-05F9365FE979}" presName="arrow" presStyleLbl="bgShp" presStyleIdx="0" presStyleCnt="1"/>
      <dgm:spPr/>
    </dgm:pt>
    <dgm:pt modelId="{4BB86D94-EF9D-4842-A616-CDE7EC5999D0}" type="pres">
      <dgm:prSet presAssocID="{1E7F86D4-E6FC-E645-B68C-05F9365FE979}" presName="linearProcess" presStyleCnt="0"/>
      <dgm:spPr/>
    </dgm:pt>
    <dgm:pt modelId="{A57EA200-E1CE-1446-A2E1-C1AF5CF5BCC9}" type="pres">
      <dgm:prSet presAssocID="{2362940C-3023-2640-A03D-721C0815FCBE}" presName="textNode" presStyleLbl="node1" presStyleIdx="0" presStyleCnt="8">
        <dgm:presLayoutVars>
          <dgm:bulletEnabled val="1"/>
        </dgm:presLayoutVars>
      </dgm:prSet>
      <dgm:spPr/>
    </dgm:pt>
    <dgm:pt modelId="{13C0BD3A-2450-E143-8F8D-63E63ABDDEBB}" type="pres">
      <dgm:prSet presAssocID="{196FD533-83C8-4742-A9E9-94CC65422900}" presName="sibTrans" presStyleCnt="0"/>
      <dgm:spPr/>
    </dgm:pt>
    <dgm:pt modelId="{C14903D6-9C29-9043-A039-320FFC6C1F19}" type="pres">
      <dgm:prSet presAssocID="{6DFCD6E6-E3CA-174E-A231-30B07F1D494B}" presName="textNode" presStyleLbl="node1" presStyleIdx="1" presStyleCnt="8">
        <dgm:presLayoutVars>
          <dgm:bulletEnabled val="1"/>
        </dgm:presLayoutVars>
      </dgm:prSet>
      <dgm:spPr/>
    </dgm:pt>
    <dgm:pt modelId="{A5B39243-DA20-AE41-958C-626308197465}" type="pres">
      <dgm:prSet presAssocID="{E3722C6A-C2E1-334A-81C3-921E6C239892}" presName="sibTrans" presStyleCnt="0"/>
      <dgm:spPr/>
    </dgm:pt>
    <dgm:pt modelId="{AB49263C-4AFC-0149-992D-12DA24319CFC}" type="pres">
      <dgm:prSet presAssocID="{6A193E7C-B060-FA45-9318-6D96F6DDEDCE}" presName="textNode" presStyleLbl="node1" presStyleIdx="2" presStyleCnt="8">
        <dgm:presLayoutVars>
          <dgm:bulletEnabled val="1"/>
        </dgm:presLayoutVars>
      </dgm:prSet>
      <dgm:spPr/>
    </dgm:pt>
    <dgm:pt modelId="{8207832C-B2E9-F542-BDE7-6E94625E0070}" type="pres">
      <dgm:prSet presAssocID="{CD28190D-B009-904D-BF9E-3C3972E8F5D8}" presName="sibTrans" presStyleCnt="0"/>
      <dgm:spPr/>
    </dgm:pt>
    <dgm:pt modelId="{0CC8CEE1-4E38-2144-8E4C-43FE6951454C}" type="pres">
      <dgm:prSet presAssocID="{BBFEEDD1-7DDD-7149-B546-162BFD2EF385}" presName="textNode" presStyleLbl="node1" presStyleIdx="3" presStyleCnt="8">
        <dgm:presLayoutVars>
          <dgm:bulletEnabled val="1"/>
        </dgm:presLayoutVars>
      </dgm:prSet>
      <dgm:spPr/>
    </dgm:pt>
    <dgm:pt modelId="{0FB4E18A-2CB5-5341-AC0F-9E1474423314}" type="pres">
      <dgm:prSet presAssocID="{2EF563C4-4C92-E64C-8BD5-5ADDFF77D02C}" presName="sibTrans" presStyleCnt="0"/>
      <dgm:spPr/>
    </dgm:pt>
    <dgm:pt modelId="{2C489BC0-0F8F-FD4D-B6D7-504A7689B77E}" type="pres">
      <dgm:prSet presAssocID="{8CD41336-D0AB-3740-88AC-6076B17F34FF}" presName="textNode" presStyleLbl="node1" presStyleIdx="4" presStyleCnt="8">
        <dgm:presLayoutVars>
          <dgm:bulletEnabled val="1"/>
        </dgm:presLayoutVars>
      </dgm:prSet>
      <dgm:spPr/>
    </dgm:pt>
    <dgm:pt modelId="{01FB5957-CB19-364D-BA8E-A3E9DAFD065B}" type="pres">
      <dgm:prSet presAssocID="{0561AC99-BDC8-4841-BE31-D41F81137E85}" presName="sibTrans" presStyleCnt="0"/>
      <dgm:spPr/>
    </dgm:pt>
    <dgm:pt modelId="{70DBE7DE-368B-9049-A443-86B33113DB43}" type="pres">
      <dgm:prSet presAssocID="{2CB19FB0-66D9-034C-8EA6-F0995F209281}" presName="textNode" presStyleLbl="node1" presStyleIdx="5" presStyleCnt="8">
        <dgm:presLayoutVars>
          <dgm:bulletEnabled val="1"/>
        </dgm:presLayoutVars>
      </dgm:prSet>
      <dgm:spPr/>
    </dgm:pt>
    <dgm:pt modelId="{5B093D79-6ECB-F140-A2C0-0A2E4B80CD96}" type="pres">
      <dgm:prSet presAssocID="{866A4473-0C66-ED43-81CF-F0933A99AF02}" presName="sibTrans" presStyleCnt="0"/>
      <dgm:spPr/>
    </dgm:pt>
    <dgm:pt modelId="{BB02A968-0DD6-A844-863D-4E6FD404C54B}" type="pres">
      <dgm:prSet presAssocID="{E170A116-3E05-654D-9118-790C04780642}" presName="textNode" presStyleLbl="node1" presStyleIdx="6" presStyleCnt="8">
        <dgm:presLayoutVars>
          <dgm:bulletEnabled val="1"/>
        </dgm:presLayoutVars>
      </dgm:prSet>
      <dgm:spPr/>
    </dgm:pt>
    <dgm:pt modelId="{2E63C1B7-3BE1-5442-B60A-B0B49F6A82C8}" type="pres">
      <dgm:prSet presAssocID="{D76CCAE6-62AB-294D-9AB2-BE19816F8C8E}" presName="sibTrans" presStyleCnt="0"/>
      <dgm:spPr/>
    </dgm:pt>
    <dgm:pt modelId="{73168493-4765-8A49-AFDE-7C4E46D7E6D1}" type="pres">
      <dgm:prSet presAssocID="{5243971E-3F56-E746-9DA4-7A7B7A8C746E}" presName="textNode" presStyleLbl="node1" presStyleIdx="7" presStyleCnt="8">
        <dgm:presLayoutVars>
          <dgm:bulletEnabled val="1"/>
        </dgm:presLayoutVars>
      </dgm:prSet>
      <dgm:spPr/>
    </dgm:pt>
  </dgm:ptLst>
  <dgm:cxnLst>
    <dgm:cxn modelId="{C6E57E5F-94CE-5544-AAFF-B9886BE2D322}" srcId="{1E7F86D4-E6FC-E645-B68C-05F9365FE979}" destId="{6DFCD6E6-E3CA-174E-A231-30B07F1D494B}" srcOrd="1" destOrd="0" parTransId="{C2961948-7C96-9D40-A6BD-04CA209BC495}" sibTransId="{E3722C6A-C2E1-334A-81C3-921E6C239892}"/>
    <dgm:cxn modelId="{6B3F6643-29D7-8040-B75D-EA078208F29A}" type="presOf" srcId="{2CB19FB0-66D9-034C-8EA6-F0995F209281}" destId="{70DBE7DE-368B-9049-A443-86B33113DB43}" srcOrd="0" destOrd="0" presId="urn:microsoft.com/office/officeart/2005/8/layout/hProcess9"/>
    <dgm:cxn modelId="{49BDFF64-3306-854E-820E-70E7CC5793E4}" srcId="{1E7F86D4-E6FC-E645-B68C-05F9365FE979}" destId="{5243971E-3F56-E746-9DA4-7A7B7A8C746E}" srcOrd="7" destOrd="0" parTransId="{CCD76A4B-DCFC-FF40-84B3-EAE0F697EC28}" sibTransId="{799890F5-A31F-284D-8146-BF19331A782C}"/>
    <dgm:cxn modelId="{E946F54E-AF0F-8B47-9FB8-9BB736895520}" srcId="{1E7F86D4-E6FC-E645-B68C-05F9365FE979}" destId="{2362940C-3023-2640-A03D-721C0815FCBE}" srcOrd="0" destOrd="0" parTransId="{EE7D1713-F680-984E-B068-31A1BB60B2A9}" sibTransId="{196FD533-83C8-4742-A9E9-94CC65422900}"/>
    <dgm:cxn modelId="{250AE079-69EB-224A-8FCA-E130C7A1993C}" type="presOf" srcId="{BBFEEDD1-7DDD-7149-B546-162BFD2EF385}" destId="{0CC8CEE1-4E38-2144-8E4C-43FE6951454C}" srcOrd="0" destOrd="0" presId="urn:microsoft.com/office/officeart/2005/8/layout/hProcess9"/>
    <dgm:cxn modelId="{780FDD98-04FB-8E4E-97AE-E7BAB4725FAF}" type="presOf" srcId="{E170A116-3E05-654D-9118-790C04780642}" destId="{BB02A968-0DD6-A844-863D-4E6FD404C54B}" srcOrd="0" destOrd="0" presId="urn:microsoft.com/office/officeart/2005/8/layout/hProcess9"/>
    <dgm:cxn modelId="{5C3AFCA6-7D51-C040-9A73-35117A905657}" type="presOf" srcId="{5243971E-3F56-E746-9DA4-7A7B7A8C746E}" destId="{73168493-4765-8A49-AFDE-7C4E46D7E6D1}" srcOrd="0" destOrd="0" presId="urn:microsoft.com/office/officeart/2005/8/layout/hProcess9"/>
    <dgm:cxn modelId="{E3F1E2A7-600E-654B-B6D1-29BDCEE42FE8}" type="presOf" srcId="{6A193E7C-B060-FA45-9318-6D96F6DDEDCE}" destId="{AB49263C-4AFC-0149-992D-12DA24319CFC}" srcOrd="0" destOrd="0" presId="urn:microsoft.com/office/officeart/2005/8/layout/hProcess9"/>
    <dgm:cxn modelId="{97B2D8B5-8265-DF46-9E24-9560EEDA818B}" srcId="{1E7F86D4-E6FC-E645-B68C-05F9365FE979}" destId="{6A193E7C-B060-FA45-9318-6D96F6DDEDCE}" srcOrd="2" destOrd="0" parTransId="{B1D4E87F-D2B9-A44F-8FDF-582B7D0A34F2}" sibTransId="{CD28190D-B009-904D-BF9E-3C3972E8F5D8}"/>
    <dgm:cxn modelId="{EFAE2FBC-BC3C-134B-A2FB-09290EA6BE4D}" type="presOf" srcId="{8CD41336-D0AB-3740-88AC-6076B17F34FF}" destId="{2C489BC0-0F8F-FD4D-B6D7-504A7689B77E}" srcOrd="0" destOrd="0" presId="urn:microsoft.com/office/officeart/2005/8/layout/hProcess9"/>
    <dgm:cxn modelId="{700842BC-629E-E847-A610-F5189841DAD1}" srcId="{1E7F86D4-E6FC-E645-B68C-05F9365FE979}" destId="{BBFEEDD1-7DDD-7149-B546-162BFD2EF385}" srcOrd="3" destOrd="0" parTransId="{203B711A-E744-C846-B2C0-E4B4DEC721A9}" sibTransId="{2EF563C4-4C92-E64C-8BD5-5ADDFF77D02C}"/>
    <dgm:cxn modelId="{F84555C0-D4B3-BF4B-B895-104595551CE4}" srcId="{1E7F86D4-E6FC-E645-B68C-05F9365FE979}" destId="{E170A116-3E05-654D-9118-790C04780642}" srcOrd="6" destOrd="0" parTransId="{7928CC85-CCF1-EF4B-BAAC-AFBECC301F67}" sibTransId="{D76CCAE6-62AB-294D-9AB2-BE19816F8C8E}"/>
    <dgm:cxn modelId="{38E8F7CF-33B7-E740-8585-54A9ECEFEDC8}" type="presOf" srcId="{2362940C-3023-2640-A03D-721C0815FCBE}" destId="{A57EA200-E1CE-1446-A2E1-C1AF5CF5BCC9}" srcOrd="0" destOrd="0" presId="urn:microsoft.com/office/officeart/2005/8/layout/hProcess9"/>
    <dgm:cxn modelId="{873AC1D1-34B1-2347-B12B-DABFE0FAD4DB}" type="presOf" srcId="{1E7F86D4-E6FC-E645-B68C-05F9365FE979}" destId="{B077362C-A471-A24B-8C61-85081505E322}" srcOrd="0" destOrd="0" presId="urn:microsoft.com/office/officeart/2005/8/layout/hProcess9"/>
    <dgm:cxn modelId="{207217EF-4D7E-3F44-94DB-28A064F367C7}" type="presOf" srcId="{6DFCD6E6-E3CA-174E-A231-30B07F1D494B}" destId="{C14903D6-9C29-9043-A039-320FFC6C1F19}" srcOrd="0" destOrd="0" presId="urn:microsoft.com/office/officeart/2005/8/layout/hProcess9"/>
    <dgm:cxn modelId="{8B582BF1-BA9D-8C4A-8603-27CC13A63F33}" srcId="{1E7F86D4-E6FC-E645-B68C-05F9365FE979}" destId="{8CD41336-D0AB-3740-88AC-6076B17F34FF}" srcOrd="4" destOrd="0" parTransId="{49842F00-E900-7E45-AC70-1AE483ECC9E3}" sibTransId="{0561AC99-BDC8-4841-BE31-D41F81137E85}"/>
    <dgm:cxn modelId="{0E05C7F9-9E3F-7E43-A8DC-8688226C5B19}" srcId="{1E7F86D4-E6FC-E645-B68C-05F9365FE979}" destId="{2CB19FB0-66D9-034C-8EA6-F0995F209281}" srcOrd="5" destOrd="0" parTransId="{610D046B-D18A-2B4D-A4A4-C2199EFA6C04}" sibTransId="{866A4473-0C66-ED43-81CF-F0933A99AF02}"/>
    <dgm:cxn modelId="{742FF05D-3CC2-DE40-8E02-163934CBD5DB}" type="presParOf" srcId="{B077362C-A471-A24B-8C61-85081505E322}" destId="{DADE6F4A-B01B-2447-8E06-95E6CFC87A56}" srcOrd="0" destOrd="0" presId="urn:microsoft.com/office/officeart/2005/8/layout/hProcess9"/>
    <dgm:cxn modelId="{B6F90286-9DBE-D94F-8638-3000964A8137}" type="presParOf" srcId="{B077362C-A471-A24B-8C61-85081505E322}" destId="{4BB86D94-EF9D-4842-A616-CDE7EC5999D0}" srcOrd="1" destOrd="0" presId="urn:microsoft.com/office/officeart/2005/8/layout/hProcess9"/>
    <dgm:cxn modelId="{C12944A1-E082-AA48-B300-622E996A520E}" type="presParOf" srcId="{4BB86D94-EF9D-4842-A616-CDE7EC5999D0}" destId="{A57EA200-E1CE-1446-A2E1-C1AF5CF5BCC9}" srcOrd="0" destOrd="0" presId="urn:microsoft.com/office/officeart/2005/8/layout/hProcess9"/>
    <dgm:cxn modelId="{E6A6B822-15FB-DC41-B8B8-AE0B7BA38EF5}" type="presParOf" srcId="{4BB86D94-EF9D-4842-A616-CDE7EC5999D0}" destId="{13C0BD3A-2450-E143-8F8D-63E63ABDDEBB}" srcOrd="1" destOrd="0" presId="urn:microsoft.com/office/officeart/2005/8/layout/hProcess9"/>
    <dgm:cxn modelId="{CA9D749A-1FAA-9248-B450-32CDDCC1EE0A}" type="presParOf" srcId="{4BB86D94-EF9D-4842-A616-CDE7EC5999D0}" destId="{C14903D6-9C29-9043-A039-320FFC6C1F19}" srcOrd="2" destOrd="0" presId="urn:microsoft.com/office/officeart/2005/8/layout/hProcess9"/>
    <dgm:cxn modelId="{7D0A666D-A6DD-5148-B270-91D78EFCC4AC}" type="presParOf" srcId="{4BB86D94-EF9D-4842-A616-CDE7EC5999D0}" destId="{A5B39243-DA20-AE41-958C-626308197465}" srcOrd="3" destOrd="0" presId="urn:microsoft.com/office/officeart/2005/8/layout/hProcess9"/>
    <dgm:cxn modelId="{C7757AAF-2B4C-6E49-A98D-6CFE15EDC322}" type="presParOf" srcId="{4BB86D94-EF9D-4842-A616-CDE7EC5999D0}" destId="{AB49263C-4AFC-0149-992D-12DA24319CFC}" srcOrd="4" destOrd="0" presId="urn:microsoft.com/office/officeart/2005/8/layout/hProcess9"/>
    <dgm:cxn modelId="{49FFB20F-B2D5-F149-BC4C-017376B91DE8}" type="presParOf" srcId="{4BB86D94-EF9D-4842-A616-CDE7EC5999D0}" destId="{8207832C-B2E9-F542-BDE7-6E94625E0070}" srcOrd="5" destOrd="0" presId="urn:microsoft.com/office/officeart/2005/8/layout/hProcess9"/>
    <dgm:cxn modelId="{6D2577C7-AE75-0B4F-8B2B-D06BBD985895}" type="presParOf" srcId="{4BB86D94-EF9D-4842-A616-CDE7EC5999D0}" destId="{0CC8CEE1-4E38-2144-8E4C-43FE6951454C}" srcOrd="6" destOrd="0" presId="urn:microsoft.com/office/officeart/2005/8/layout/hProcess9"/>
    <dgm:cxn modelId="{627AEEBB-F13A-2446-95CC-B5F2F7EE4EE5}" type="presParOf" srcId="{4BB86D94-EF9D-4842-A616-CDE7EC5999D0}" destId="{0FB4E18A-2CB5-5341-AC0F-9E1474423314}" srcOrd="7" destOrd="0" presId="urn:microsoft.com/office/officeart/2005/8/layout/hProcess9"/>
    <dgm:cxn modelId="{8FDAB19B-3219-374A-BD23-DBD4C2AEB50A}" type="presParOf" srcId="{4BB86D94-EF9D-4842-A616-CDE7EC5999D0}" destId="{2C489BC0-0F8F-FD4D-B6D7-504A7689B77E}" srcOrd="8" destOrd="0" presId="urn:microsoft.com/office/officeart/2005/8/layout/hProcess9"/>
    <dgm:cxn modelId="{7F3B7486-780D-B248-9712-C70ABBFA50CD}" type="presParOf" srcId="{4BB86D94-EF9D-4842-A616-CDE7EC5999D0}" destId="{01FB5957-CB19-364D-BA8E-A3E9DAFD065B}" srcOrd="9" destOrd="0" presId="urn:microsoft.com/office/officeart/2005/8/layout/hProcess9"/>
    <dgm:cxn modelId="{4DABAEA5-2E0B-CC4C-8F0E-16A72873E537}" type="presParOf" srcId="{4BB86D94-EF9D-4842-A616-CDE7EC5999D0}" destId="{70DBE7DE-368B-9049-A443-86B33113DB43}" srcOrd="10" destOrd="0" presId="urn:microsoft.com/office/officeart/2005/8/layout/hProcess9"/>
    <dgm:cxn modelId="{CD9E3632-D1BF-914C-A397-BA615B7B1993}" type="presParOf" srcId="{4BB86D94-EF9D-4842-A616-CDE7EC5999D0}" destId="{5B093D79-6ECB-F140-A2C0-0A2E4B80CD96}" srcOrd="11" destOrd="0" presId="urn:microsoft.com/office/officeart/2005/8/layout/hProcess9"/>
    <dgm:cxn modelId="{BDDFB428-CB1C-B747-8597-EA39AF752B42}" type="presParOf" srcId="{4BB86D94-EF9D-4842-A616-CDE7EC5999D0}" destId="{BB02A968-0DD6-A844-863D-4E6FD404C54B}" srcOrd="12" destOrd="0" presId="urn:microsoft.com/office/officeart/2005/8/layout/hProcess9"/>
    <dgm:cxn modelId="{A77683BA-8B7A-4946-8A2A-14EC2A5C4400}" type="presParOf" srcId="{4BB86D94-EF9D-4842-A616-CDE7EC5999D0}" destId="{2E63C1B7-3BE1-5442-B60A-B0B49F6A82C8}" srcOrd="13" destOrd="0" presId="urn:microsoft.com/office/officeart/2005/8/layout/hProcess9"/>
    <dgm:cxn modelId="{91FB5004-FC2A-D34B-92D1-679CBB21128B}" type="presParOf" srcId="{4BB86D94-EF9D-4842-A616-CDE7EC5999D0}" destId="{73168493-4765-8A49-AFDE-7C4E46D7E6D1}" srcOrd="14" destOrd="0" presId="urn:microsoft.com/office/officeart/2005/8/layout/hProcess9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DE6F4A-B01B-2447-8E06-95E6CFC87A56}">
      <dsp:nvSpPr>
        <dsp:cNvPr id="0" name=""/>
        <dsp:cNvSpPr/>
      </dsp:nvSpPr>
      <dsp:spPr>
        <a:xfrm>
          <a:off x="535967" y="0"/>
          <a:ext cx="6074299" cy="3715128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7EA200-E1CE-1446-A2E1-C1AF5CF5BCC9}">
      <dsp:nvSpPr>
        <dsp:cNvPr id="0" name=""/>
        <dsp:cNvSpPr/>
      </dsp:nvSpPr>
      <dsp:spPr>
        <a:xfrm>
          <a:off x="3489" y="1114538"/>
          <a:ext cx="778827" cy="14860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Video</a:t>
          </a:r>
          <a:endParaRPr lang="zh-CN" altLang="en-US" sz="1400" kern="1200" dirty="0"/>
        </a:p>
      </dsp:txBody>
      <dsp:txXfrm>
        <a:off x="41508" y="1152557"/>
        <a:ext cx="702789" cy="1410013"/>
      </dsp:txXfrm>
    </dsp:sp>
    <dsp:sp modelId="{C14903D6-9C29-9043-A039-320FFC6C1F19}">
      <dsp:nvSpPr>
        <dsp:cNvPr id="0" name=""/>
        <dsp:cNvSpPr/>
      </dsp:nvSpPr>
      <dsp:spPr>
        <a:xfrm>
          <a:off x="912121" y="1114538"/>
          <a:ext cx="778827" cy="14860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Frame Extraction</a:t>
          </a:r>
          <a:endParaRPr lang="zh-CN" altLang="en-US" sz="1400" kern="1200" dirty="0"/>
        </a:p>
      </dsp:txBody>
      <dsp:txXfrm>
        <a:off x="950140" y="1152557"/>
        <a:ext cx="702789" cy="1410013"/>
      </dsp:txXfrm>
    </dsp:sp>
    <dsp:sp modelId="{AB49263C-4AFC-0149-992D-12DA24319CFC}">
      <dsp:nvSpPr>
        <dsp:cNvPr id="0" name=""/>
        <dsp:cNvSpPr/>
      </dsp:nvSpPr>
      <dsp:spPr>
        <a:xfrm>
          <a:off x="1820754" y="1114538"/>
          <a:ext cx="778827" cy="14860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Preprocessing</a:t>
          </a:r>
          <a:endParaRPr lang="zh-CN" altLang="en-US" sz="1400" kern="1200" dirty="0"/>
        </a:p>
      </dsp:txBody>
      <dsp:txXfrm>
        <a:off x="1858773" y="1152557"/>
        <a:ext cx="702789" cy="1410013"/>
      </dsp:txXfrm>
    </dsp:sp>
    <dsp:sp modelId="{0CC8CEE1-4E38-2144-8E4C-43FE6951454C}">
      <dsp:nvSpPr>
        <dsp:cNvPr id="0" name=""/>
        <dsp:cNvSpPr/>
      </dsp:nvSpPr>
      <dsp:spPr>
        <a:xfrm>
          <a:off x="2729387" y="1114538"/>
          <a:ext cx="778827" cy="14860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CNN Model</a:t>
          </a:r>
          <a:endParaRPr lang="zh-CN" altLang="en-US" sz="1400" kern="1200" dirty="0"/>
        </a:p>
      </dsp:txBody>
      <dsp:txXfrm>
        <a:off x="2767406" y="1152557"/>
        <a:ext cx="702789" cy="1410013"/>
      </dsp:txXfrm>
    </dsp:sp>
    <dsp:sp modelId="{2C489BC0-0F8F-FD4D-B6D7-504A7689B77E}">
      <dsp:nvSpPr>
        <dsp:cNvPr id="0" name=""/>
        <dsp:cNvSpPr/>
      </dsp:nvSpPr>
      <dsp:spPr>
        <a:xfrm>
          <a:off x="3638019" y="1114538"/>
          <a:ext cx="778827" cy="14860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Classification</a:t>
          </a:r>
          <a:endParaRPr lang="zh-CN" altLang="en-US" sz="1400" kern="1200" dirty="0"/>
        </a:p>
      </dsp:txBody>
      <dsp:txXfrm>
        <a:off x="3676038" y="1152557"/>
        <a:ext cx="702789" cy="1410013"/>
      </dsp:txXfrm>
    </dsp:sp>
    <dsp:sp modelId="{70DBE7DE-368B-9049-A443-86B33113DB43}">
      <dsp:nvSpPr>
        <dsp:cNvPr id="0" name=""/>
        <dsp:cNvSpPr/>
      </dsp:nvSpPr>
      <dsp:spPr>
        <a:xfrm>
          <a:off x="4546652" y="1114538"/>
          <a:ext cx="778827" cy="14860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Defect Logic</a:t>
          </a:r>
          <a:endParaRPr lang="zh-CN" altLang="en-US" sz="1400" kern="1200" dirty="0"/>
        </a:p>
      </dsp:txBody>
      <dsp:txXfrm>
        <a:off x="4584671" y="1152557"/>
        <a:ext cx="702789" cy="1410013"/>
      </dsp:txXfrm>
    </dsp:sp>
    <dsp:sp modelId="{BB02A968-0DD6-A844-863D-4E6FD404C54B}">
      <dsp:nvSpPr>
        <dsp:cNvPr id="0" name=""/>
        <dsp:cNvSpPr/>
      </dsp:nvSpPr>
      <dsp:spPr>
        <a:xfrm>
          <a:off x="5455285" y="1114538"/>
          <a:ext cx="778827" cy="14860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Status Panel </a:t>
          </a:r>
          <a:endParaRPr lang="zh-CN" altLang="en-US" sz="1400" kern="1200" dirty="0"/>
        </a:p>
      </dsp:txBody>
      <dsp:txXfrm>
        <a:off x="5493304" y="1152557"/>
        <a:ext cx="702789" cy="1410013"/>
      </dsp:txXfrm>
    </dsp:sp>
    <dsp:sp modelId="{73168493-4765-8A49-AFDE-7C4E46D7E6D1}">
      <dsp:nvSpPr>
        <dsp:cNvPr id="0" name=""/>
        <dsp:cNvSpPr/>
      </dsp:nvSpPr>
      <dsp:spPr>
        <a:xfrm>
          <a:off x="6363917" y="1114538"/>
          <a:ext cx="778827" cy="1486051"/>
        </a:xfrm>
        <a:prstGeom prst="roundRect">
          <a:avLst/>
        </a:prstGeom>
        <a:solidFill>
          <a:schemeClr val="accent1">
            <a:hueOff val="0"/>
            <a:satOff val="0"/>
            <a:lum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Final Output Video</a:t>
          </a:r>
          <a:endParaRPr lang="zh-CN" altLang="en-US" sz="1400" kern="1200" dirty="0"/>
        </a:p>
      </dsp:txBody>
      <dsp:txXfrm>
        <a:off x="6401936" y="1152557"/>
        <a:ext cx="702789" cy="14100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4464B6-8EAA-4071-9604-32BBC2B7B1F6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157F95-D2D0-4D06-A2CE-8BA8E5938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570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BD697-B1CC-AC0C-0EE7-875EB5914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31A90-3038-DF96-71DF-FCDF947B81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CC6AB-377F-A069-511C-79C009E92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5F6F-B550-412A-B458-2725075D5E79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25AC0-B9FC-121D-8B54-0260A0D7A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85F27-636E-71AA-AAAC-BD69629A0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012C8-12E0-455F-83A1-6197AF1FB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54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631F6-B6E5-B58F-41A9-8B7E9F2D1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76EE1-9FE2-20B5-70AB-E16AC839A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0A9A0-DEF8-5BE0-4F99-D3BD91092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A0FFA-88E7-41A0-AC3A-83DA64BD08FE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875D2-5465-829D-B265-AEAAA30E7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F379C-266F-B0C7-06BB-7DE42918E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012C8-12E0-455F-83A1-6197AF1FB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742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D528E-6B71-7B45-6F8B-8AD935721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59A2E-55FF-1852-D19B-241A133A6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DA39E-AC07-1AE0-A7F6-FE1FFC697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C9CF5-0E77-44E6-B51E-7914C5F296A9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F8DDE-CC9F-ABC9-A4EF-F7065723E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75F1E-3471-D242-6F06-FC1C0D414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012C8-12E0-455F-83A1-6197AF1FB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289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BDDA-1AF2-EDB0-258B-22E3089CC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0B1C0-C6E1-E685-D543-4079CD5840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5A5CED-F856-36CB-E720-FDF6FF5833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1FCED-80F8-B6DA-1337-1BCDFDF6C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3C80F-F8DB-4CEA-8762-641B6A128563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648728-3F48-3401-23C9-31F18E030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0C90A-1CA2-226E-BAF4-6FD9BC0C1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012C8-12E0-455F-83A1-6197AF1FB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576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CE92C-AE92-ED29-CA06-F32D0FFC8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6ACCD-EFCC-C552-00E6-3D0FEBDBE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C5BD82-EDC8-06F0-0AA2-3FDC261A8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FF13C2-B665-D180-2E9A-9E1421343E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062A3E-4595-ABBA-F751-BFEB0D5613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645E63-B379-2F8F-2C65-1E8CDDDC1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9FF4-4420-47FB-8741-FF4E9E94B7D2}" type="datetime1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C04262-D828-4763-667B-DFC62A0EE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CB06B6-EFA1-224A-5F67-E483F9662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012C8-12E0-455F-83A1-6197AF1FB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19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58CF3-FEFE-41CC-27B3-58DE32319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3AED5C-0739-127B-B03D-E6310F018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F5F97-4499-46B9-9776-B20D863DED17}" type="datetime1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B41033-815A-349E-6CF8-E69CF8E48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9C3517-2C42-FA74-4B04-9BE835789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012C8-12E0-455F-83A1-6197AF1FB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785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C02D3F-8544-9850-9759-EA25EA056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7C1A-73DD-4695-A8BB-714B7C6868DC}" type="datetime1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9B9119-A232-C9EC-86F5-8569C3121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35906-E3C6-FCCD-828D-5C6D94A91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012C8-12E0-455F-83A1-6197AF1FB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020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A9126-4193-7BE5-1895-60F39A7EE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D9E12-7AB7-C978-46C1-066FACC40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E7D157-5032-3DCD-CB83-6256E4F7C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99836-20E9-7B89-352E-3D6662D3D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2277-C33F-4A74-98C0-199AC6F08472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130FB3-44D5-A3A1-2759-0228473E9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98874-70F7-E20F-D6D5-22B6C9461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012C8-12E0-455F-83A1-6197AF1FB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722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B8041-FC2B-8B9E-F69B-E695AE175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DFC96E-FCB2-518C-47A3-5333618B9B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A6EC97-7970-228B-F0CD-269682E4D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843EB1-86BA-B130-9A64-D18A20D9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C5F3F-0108-4193-9712-3CD6DCBBF764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C8141-5E8A-BAF3-73BF-3B2AB7769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02F08-2C57-0B11-70B2-A5278E1BA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012C8-12E0-455F-83A1-6197AF1FB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438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75230-A12C-7883-880B-A860A8B62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67129-1885-1183-7E42-02F6821EB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D4FCC-25AE-2FAF-83B2-9DFA7140F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EE73-61FE-4FE9-8698-D8E74F3DD543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4999E-D2D9-474C-470F-010C99708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136F6-46FE-D5A0-F4CE-6E1557B40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012C8-12E0-455F-83A1-6197AF1FB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082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62CC57-2628-C9D1-F800-7E28478FC2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A62DF9-9EF7-911E-5E90-9EB9A432EB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EEEA7-AD01-8EC6-0F38-295C12E88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88B7A-F968-45A8-9645-B833000F2C38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37A1F-D739-DCE8-F479-C443DEB2A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E1661-1F2D-B691-AE6B-07559B175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012C8-12E0-455F-83A1-6197AF1FB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81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E11A6A-0090-BD48-C8FF-52D0FAD19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B81B8-757B-6955-AB80-7B5287B38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04D81-AC9C-BC92-B14E-1C9BBA15F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3B92D8-71F0-4C1B-9FAC-BDA01AC7C445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7F776-CCB4-162F-BEE8-BE58703BF2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C328A-35B0-0EE7-FC2D-76490DA35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3012C8-12E0-455F-83A1-6197AF1FB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42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DF1D-D06A-A802-D5DD-8C7814C99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1528" y="815566"/>
            <a:ext cx="4388187" cy="6042434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4400" b="1" dirty="0">
                <a:latin typeface="Arial Narrow" panose="020B0606020202030204" pitchFamily="34" charset="0"/>
              </a:rPr>
              <a:t>Topic &amp; Overview</a:t>
            </a:r>
            <a:br>
              <a:rPr lang="en-US" sz="1800" dirty="0">
                <a:latin typeface="Arial Narrow" panose="020B0606020202030204" pitchFamily="34" charset="0"/>
              </a:rPr>
            </a:br>
            <a:br>
              <a:rPr lang="en-US" altLang="zh-CN" sz="1800" dirty="0">
                <a:latin typeface="Arial Narrow" panose="020B0606020202030204" pitchFamily="34" charset="0"/>
              </a:rPr>
            </a:br>
            <a:r>
              <a:rPr lang="en-US" altLang="zh-CN" sz="3100" dirty="0">
                <a:latin typeface="Arial Narrow" panose="020B0606020202030204" pitchFamily="34" charset="0"/>
              </a:rPr>
              <a:t>Title:</a:t>
            </a:r>
            <a:br>
              <a:rPr lang="en-US" altLang="zh-CN" sz="1800" dirty="0">
                <a:latin typeface="Arial Narrow" panose="020B0606020202030204" pitchFamily="34" charset="0"/>
              </a:rPr>
            </a:br>
            <a:r>
              <a:rPr lang="en-US" altLang="zh-CN" sz="1800" dirty="0">
                <a:latin typeface="Arial Narrow" panose="020B0606020202030204" pitchFamily="34" charset="0"/>
              </a:rPr>
              <a:t>NLP for Quality Control Reports in Production Line</a:t>
            </a:r>
            <a:br>
              <a:rPr lang="en-US" sz="1800" dirty="0">
                <a:latin typeface="Arial Narrow" panose="020B0606020202030204" pitchFamily="34" charset="0"/>
              </a:rPr>
            </a:br>
            <a:br>
              <a:rPr lang="en-US" sz="1800" dirty="0">
                <a:latin typeface="Arial Narrow" panose="020B0606020202030204" pitchFamily="34" charset="0"/>
              </a:rPr>
            </a:b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等线 Light" panose="02010600030101010101" pitchFamily="2" charset="-122"/>
                <a:cs typeface="+mj-cs"/>
              </a:rPr>
              <a:t>Presented by: Teja Tadisetty</a:t>
            </a:r>
            <a:b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等线 Light" panose="02010600030101010101" pitchFamily="2" charset="-122"/>
                <a:cs typeface="+mj-cs"/>
              </a:rPr>
            </a:b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等线 Light" panose="02010600030101010101" pitchFamily="2" charset="-122"/>
                <a:cs typeface="+mj-cs"/>
              </a:rPr>
              <a:t>                 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等线 Light" panose="02010600030101010101" pitchFamily="2" charset="-122"/>
                <a:cs typeface="+mj-cs"/>
              </a:rPr>
              <a:t>Boshi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等线 Light" panose="02010600030101010101" pitchFamily="2" charset="-122"/>
                <a:cs typeface="+mj-cs"/>
              </a:rPr>
              <a:t> Zhao</a:t>
            </a:r>
            <a:b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等线 Light" panose="02010600030101010101" pitchFamily="2" charset="-122"/>
                <a:cs typeface="+mj-cs"/>
              </a:rPr>
            </a:b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等线 Light" panose="02010600030101010101" pitchFamily="2" charset="-122"/>
                <a:cs typeface="+mj-cs"/>
              </a:rPr>
              <a:t>                         Anandu Hari</a:t>
            </a:r>
            <a:b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等线 Light" panose="02010600030101010101" pitchFamily="2" charset="-122"/>
                <a:cs typeface="+mj-cs"/>
              </a:rPr>
            </a:br>
            <a:b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等线 Light" panose="02010600030101010101" pitchFamily="2" charset="-122"/>
                <a:cs typeface="+mj-cs"/>
              </a:rPr>
            </a:b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等线 Light" panose="02010600030101010101" pitchFamily="2" charset="-122"/>
                <a:cs typeface="+mj-cs"/>
              </a:rPr>
              <a:t>Guided by: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等线 Light" panose="02010600030101010101" pitchFamily="2" charset="-122"/>
                <a:cs typeface="+mj-cs"/>
              </a:rPr>
              <a:t>Dr.Hamidreza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等线 Light" panose="02010600030101010101" pitchFamily="2" charset="-122"/>
                <a:cs typeface="+mj-cs"/>
              </a:rPr>
              <a:t> Heidari</a:t>
            </a:r>
            <a:br>
              <a:rPr lang="en-US" sz="1800" dirty="0">
                <a:latin typeface="Arial Narrow" panose="020B0606020202030204" pitchFamily="34" charset="0"/>
              </a:rPr>
            </a:br>
            <a:br>
              <a:rPr lang="en-US" sz="3100" dirty="0">
                <a:latin typeface="Arial Narrow" panose="020B0606020202030204" pitchFamily="34" charset="0"/>
              </a:rPr>
            </a:br>
            <a:r>
              <a:rPr lang="en-US" sz="3100" dirty="0">
                <a:latin typeface="Arial Narrow" panose="020B0606020202030204" pitchFamily="34" charset="0"/>
              </a:rPr>
              <a:t>Industrial Problem:</a:t>
            </a:r>
            <a:br>
              <a:rPr lang="en-US" sz="1800" dirty="0">
                <a:latin typeface="Arial Narrow" panose="020B0606020202030204" pitchFamily="34" charset="0"/>
              </a:rPr>
            </a:b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Manual visual inspection of bottles on production lines is slow, error-prone, and unsafe at high conveyor speeds.</a:t>
            </a:r>
            <a:br>
              <a:rPr lang="en-US" sz="1800" dirty="0">
                <a:latin typeface="Arial Narrow" panose="020B0606020202030204" pitchFamily="34" charset="0"/>
              </a:rPr>
            </a:br>
            <a:br>
              <a:rPr lang="en-US" sz="1800" dirty="0">
                <a:latin typeface="Arial Narrow" panose="020B0606020202030204" pitchFamily="34" charset="0"/>
              </a:rPr>
            </a:br>
            <a:r>
              <a:rPr lang="en-US" sz="3100" dirty="0">
                <a:latin typeface="Arial Narrow" panose="020B0606020202030204" pitchFamily="34" charset="0"/>
              </a:rPr>
              <a:t>Main Goal:</a:t>
            </a:r>
            <a:br>
              <a:rPr lang="en-US" sz="1800" dirty="0">
                <a:latin typeface="Arial Narrow" panose="020B060602020203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Develop an AI-based system to automatically classify good vs defective bottles in real time,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with explainable insights using NLP.</a:t>
            </a:r>
            <a:br>
              <a:rPr lang="en-US" sz="1800" dirty="0">
                <a:latin typeface="Arial Narrow" panose="020B0606020202030204" pitchFamily="34" charset="0"/>
              </a:rPr>
            </a:br>
            <a:br>
              <a:rPr lang="en-US" sz="1800" dirty="0">
                <a:latin typeface="Arial Narrow" panose="020B0606020202030204" pitchFamily="34" charset="0"/>
              </a:rPr>
            </a:br>
            <a:endParaRPr lang="en-US" sz="1400" dirty="0"/>
          </a:p>
        </p:txBody>
      </p: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4570687D-474A-71E6-EFE1-0E37B4FD23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443" y="80539"/>
            <a:ext cx="3406570" cy="73502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31831F-AFD4-91E6-D496-6948B9E87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7C8171-5C9A-38CD-1AA0-09DD327DC1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2029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443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74905-5FDC-26AB-259C-BFF2F5CB0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45" y="1217230"/>
            <a:ext cx="4729487" cy="556023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Input Sources:</a:t>
            </a:r>
          </a:p>
          <a:p>
            <a:r>
              <a:rPr lang="en-US" sz="1800" dirty="0"/>
              <a:t>Conveyor belt video footage (industrial environment)</a:t>
            </a:r>
          </a:p>
          <a:p>
            <a:r>
              <a:rPr lang="en-US" sz="1800" dirty="0"/>
              <a:t>Good bottle image dataset</a:t>
            </a:r>
          </a:p>
          <a:p>
            <a:r>
              <a:rPr lang="en-US" sz="1800" dirty="0"/>
              <a:t>Defective bottle dataset</a:t>
            </a:r>
          </a:p>
          <a:p>
            <a:pPr marL="0" indent="0">
              <a:buNone/>
            </a:pPr>
            <a:r>
              <a:rPr lang="en-US" sz="2400" b="1" dirty="0"/>
              <a:t>Assumptions:</a:t>
            </a:r>
          </a:p>
          <a:p>
            <a:r>
              <a:rPr lang="en-US" sz="1800" dirty="0"/>
              <a:t>Bottles move in a fixed direction</a:t>
            </a:r>
          </a:p>
          <a:p>
            <a:r>
              <a:rPr lang="en-US" sz="1800" dirty="0"/>
              <a:t>Camera mounted above conveyor belt</a:t>
            </a:r>
          </a:p>
          <a:p>
            <a:r>
              <a:rPr lang="en-US" sz="1800" dirty="0"/>
              <a:t>Defects include shape, label, cap/water level</a:t>
            </a:r>
            <a:r>
              <a:rPr lang="zh-CN" altLang="en-US" sz="1800" dirty="0"/>
              <a:t>   </a:t>
            </a:r>
            <a:br>
              <a:rPr lang="en-US" altLang="zh-CN" sz="1800" dirty="0"/>
            </a:br>
            <a:br>
              <a:rPr lang="en-US" altLang="zh-CN" sz="1800" dirty="0"/>
            </a:br>
            <a:r>
              <a:rPr kumimoji="1" lang="en-US" altLang="zh-CN" sz="2400" b="1" dirty="0"/>
              <a:t>Units / Ranges:</a:t>
            </a:r>
            <a:endParaRPr kumimoji="1" lang="en-US" altLang="zh-CN" sz="1800" dirty="0"/>
          </a:p>
          <a:p>
            <a:pPr marL="285750" indent="-285750"/>
            <a:r>
              <a:rPr kumimoji="1" lang="en-US" altLang="zh-CN" sz="1800" dirty="0"/>
              <a:t>Frame size: 640×480</a:t>
            </a:r>
          </a:p>
          <a:p>
            <a:pPr marL="285750" indent="-285750"/>
            <a:r>
              <a:rPr kumimoji="1" lang="en-US" altLang="zh-CN" sz="1800" dirty="0"/>
              <a:t>FPS: 25</a:t>
            </a:r>
          </a:p>
          <a:p>
            <a:pPr marL="285750" indent="-285750"/>
            <a:r>
              <a:rPr kumimoji="1" lang="en-US" altLang="zh-CN" sz="1800" dirty="0"/>
              <a:t>Confidence score: 0–1</a:t>
            </a:r>
          </a:p>
          <a:p>
            <a:pPr marL="285750" indent="-285750"/>
            <a:r>
              <a:rPr kumimoji="1" lang="en-US" altLang="zh-CN" sz="1800" dirty="0"/>
              <a:t>Bottle ID increments per frame</a:t>
            </a:r>
          </a:p>
          <a:p>
            <a:endParaRPr lang="en-US" altLang="zh-CN" sz="1800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768D1-288C-1B8C-6A71-F2BBAEECF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012C8-12E0-455F-83A1-6197AF1FB45C}" type="slidenum">
              <a:rPr lang="en-US" smtClean="0"/>
              <a:t>2</a:t>
            </a:fld>
            <a:endParaRPr lang="en-US"/>
          </a:p>
        </p:txBody>
      </p:sp>
      <p:pic>
        <p:nvPicPr>
          <p:cNvPr id="2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FD0386E4-DADC-AAEC-50F7-53E6B8308F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443" y="80539"/>
            <a:ext cx="3406570" cy="735028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4BECF5FF-C6C9-ED24-39C6-F4705CC3A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45" y="448053"/>
            <a:ext cx="6125226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4000" b="1" i="0" u="none" strike="noStrike" cap="none" normalizeH="0" baseline="0" dirty="0">
                <a:ln>
                  <a:noFill/>
                </a:ln>
                <a:solidFill>
                  <a:srgbClr val="2C363A"/>
                </a:solidFill>
                <a:effectLst/>
                <a:latin typeface="Arial" panose="020B0604020202020204" pitchFamily="34" charset="0"/>
                <a:ea typeface="Roboto" panose="02000000000000000000" pitchFamily="2" charset="0"/>
              </a:rPr>
              <a:t>Input Parameters /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7C24456-43C7-AE7F-F6A7-48A1ACE6461B}"/>
              </a:ext>
            </a:extLst>
          </p:cNvPr>
          <p:cNvSpPr txBox="1"/>
          <p:nvPr/>
        </p:nvSpPr>
        <p:spPr>
          <a:xfrm>
            <a:off x="5337168" y="1166662"/>
            <a:ext cx="435743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en-US" altLang="zh-CN" dirty="0"/>
          </a:p>
          <a:p>
            <a:r>
              <a:rPr kumimoji="1" lang="en-US" altLang="zh-CN" sz="2400" b="1" dirty="0"/>
              <a:t>Data Collection: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Frame extraction from conveyor video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Open CV + Python to preprocess frames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CNN trained on labeled good/defective images</a:t>
            </a:r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pic>
        <p:nvPicPr>
          <p:cNvPr id="1026" name="Picture 2" descr="Advantages of Conveyors in the Bottling Industry">
            <a:extLst>
              <a:ext uri="{FF2B5EF4-FFF2-40B4-BE49-F238E27FC236}">
                <a16:creationId xmlns:a16="http://schemas.microsoft.com/office/drawing/2014/main" id="{9C274B64-0532-26C9-D186-87E5439FF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2751" y="3429000"/>
            <a:ext cx="4817977" cy="2777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6581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FE98C9F-1E62-D409-32AB-23A64B9D6336}"/>
              </a:ext>
            </a:extLst>
          </p:cNvPr>
          <p:cNvSpPr txBox="1"/>
          <p:nvPr/>
        </p:nvSpPr>
        <p:spPr>
          <a:xfrm>
            <a:off x="327861" y="1615858"/>
            <a:ext cx="4268695" cy="47404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9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B5725-651E-2002-A87E-C8816206C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012C8-12E0-455F-83A1-6197AF1FB45C}" type="slidenum">
              <a:rPr lang="en-US" smtClean="0"/>
              <a:t>3</a:t>
            </a:fld>
            <a:endParaRPr lang="en-US"/>
          </a:p>
        </p:txBody>
      </p: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A59B4921-F0F3-570C-7613-E5E7E94052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443" y="80539"/>
            <a:ext cx="3406570" cy="735028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47BBD339-8976-E2E1-F73F-CA4E2C086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987" y="815567"/>
            <a:ext cx="10529136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4000" b="1" i="0" u="none" strike="noStrike" cap="none" normalizeH="0" baseline="0" dirty="0">
                <a:ln>
                  <a:noFill/>
                </a:ln>
                <a:solidFill>
                  <a:srgbClr val="2C363A"/>
                </a:solidFill>
                <a:effectLst/>
                <a:latin typeface="Arial" panose="020B0604020202020204" pitchFamily="34" charset="0"/>
                <a:ea typeface="Roboto" panose="02000000000000000000" pitchFamily="2" charset="0"/>
              </a:rPr>
              <a:t>Algorithm + Simulation Flowchart (Part 1)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8B0824-2F1C-60AD-5B30-526916C8A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049" y="1477287"/>
            <a:ext cx="3252724" cy="5244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42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FB802-DF45-CF26-CA17-CF41FBEAB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012C8-12E0-455F-83A1-6197AF1FB45C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255B80D5-CE6C-5B73-D17F-4197BF546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443" y="80539"/>
            <a:ext cx="3406570" cy="73502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98103B1-0190-7060-46FF-F7413A2160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03503" y="1236394"/>
            <a:ext cx="10289996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4000" b="1" i="0" u="none" strike="noStrike" cap="none" normalizeH="0" baseline="0" dirty="0">
                <a:ln>
                  <a:noFill/>
                </a:ln>
                <a:solidFill>
                  <a:srgbClr val="2C363A"/>
                </a:solidFill>
                <a:effectLst/>
                <a:latin typeface="Arial" panose="020B0604020202020204" pitchFamily="34" charset="0"/>
                <a:ea typeface="Roboto" panose="02000000000000000000" pitchFamily="2" charset="0"/>
              </a:rPr>
              <a:t>Algorithm + Simulation Flowchart (Part 2)</a:t>
            </a:r>
            <a:endParaRPr kumimoji="0" lang="zh-CN" altLang="zh-CN" sz="4000" b="0" i="0" u="none" strike="noStrike" cap="none" normalizeH="0" baseline="0" dirty="0">
              <a:ln>
                <a:noFill/>
              </a:ln>
              <a:solidFill>
                <a:srgbClr val="2C363A"/>
              </a:solidFill>
              <a:effectLst/>
              <a:latin typeface="Arial" panose="020B0604020202020204" pitchFamily="34" charset="0"/>
              <a:ea typeface="Roboto" panose="02000000000000000000" pitchFamily="2" charset="0"/>
            </a:endParaRPr>
          </a:p>
        </p:txBody>
      </p:sp>
      <p:graphicFrame>
        <p:nvGraphicFramePr>
          <p:cNvPr id="8" name="图示 7">
            <a:extLst>
              <a:ext uri="{FF2B5EF4-FFF2-40B4-BE49-F238E27FC236}">
                <a16:creationId xmlns:a16="http://schemas.microsoft.com/office/drawing/2014/main" id="{8ADC482A-B256-CA03-9178-0370E7FFC8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6704960"/>
              </p:ext>
            </p:extLst>
          </p:nvPr>
        </p:nvGraphicFramePr>
        <p:xfrm>
          <a:off x="195859" y="2705704"/>
          <a:ext cx="7146235" cy="3715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4CE46982-97D3-A3EB-561A-F2C4A4A6FA6F}"/>
              </a:ext>
            </a:extLst>
          </p:cNvPr>
          <p:cNvSpPr txBox="1"/>
          <p:nvPr/>
        </p:nvSpPr>
        <p:spPr>
          <a:xfrm>
            <a:off x="7537953" y="2982734"/>
            <a:ext cx="420099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Modules:</a:t>
            </a:r>
          </a:p>
          <a:p>
            <a:endParaRPr lang="en-US" altLang="zh-CN" sz="2400" dirty="0"/>
          </a:p>
          <a:p>
            <a:r>
              <a:rPr lang="en-US" altLang="zh-CN" dirty="0"/>
              <a:t>·TensorFlow / </a:t>
            </a:r>
            <a:r>
              <a:rPr lang="en-US" altLang="zh-CN" dirty="0" err="1"/>
              <a:t>Keras</a:t>
            </a:r>
            <a:r>
              <a:rPr lang="en-US" altLang="zh-CN" dirty="0"/>
              <a:t> (CNN)</a:t>
            </a:r>
          </a:p>
          <a:p>
            <a:endParaRPr lang="en-US" altLang="zh-CN" dirty="0"/>
          </a:p>
          <a:p>
            <a:r>
              <a:rPr lang="en-US" altLang="zh-CN" dirty="0"/>
              <a:t>·OpenCV (frame processing &amp; drawing)</a:t>
            </a:r>
          </a:p>
          <a:p>
            <a:endParaRPr lang="en-US" altLang="zh-CN" dirty="0"/>
          </a:p>
          <a:p>
            <a:r>
              <a:rPr lang="en-US" altLang="zh-CN" dirty="0"/>
              <a:t>·Simple NLP text parsing to map </a:t>
            </a:r>
          </a:p>
          <a:p>
            <a:endParaRPr lang="en-US" altLang="zh-CN" dirty="0"/>
          </a:p>
          <a:p>
            <a:r>
              <a:rPr lang="en-US" altLang="zh-CN" dirty="0"/>
              <a:t>·defect labels to readable messages</a:t>
            </a:r>
          </a:p>
        </p:txBody>
      </p:sp>
      <p:pic>
        <p:nvPicPr>
          <p:cNvPr id="12" name="图片 11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32F6006A-EE19-A238-E72B-B70A353F80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59" y="2705704"/>
            <a:ext cx="71882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469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2B6E47-FF67-95EC-8BB2-B162B93CD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A3012C8-12E0-455F-83A1-6197AF1FB45C}" type="slidenum">
              <a:rPr lang="en-US" sz="1000" smtClean="0"/>
              <a:pPr>
                <a:spcAft>
                  <a:spcPts val="600"/>
                </a:spcAft>
              </a:pPr>
              <a:t>5</a:t>
            </a:fld>
            <a:endParaRPr lang="en-US" sz="1000"/>
          </a:p>
        </p:txBody>
      </p:sp>
      <p:pic>
        <p:nvPicPr>
          <p:cNvPr id="6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D4DE4EDA-EB42-1026-1A3C-A329DE2A0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443" y="80539"/>
            <a:ext cx="3406570" cy="735028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EDA2B585-89A2-391A-E6B9-949C74FD07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49477" y="122976"/>
            <a:ext cx="7521406" cy="907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4000" b="1" i="0" u="none" strike="noStrike" cap="none" normalizeH="0" baseline="0" dirty="0">
                <a:ln>
                  <a:noFill/>
                </a:ln>
                <a:solidFill>
                  <a:srgbClr val="2C363A"/>
                </a:solidFill>
                <a:effectLst/>
                <a:latin typeface="Arial" panose="020B0604020202020204" pitchFamily="34" charset="0"/>
                <a:ea typeface="Roboto" panose="02000000000000000000" pitchFamily="2" charset="0"/>
              </a:rPr>
              <a:t>Outputs &amp; Results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766A5E9-A5AB-AD1E-CA38-FEDCE905AC2B}"/>
              </a:ext>
            </a:extLst>
          </p:cNvPr>
          <p:cNvSpPr txBox="1"/>
          <p:nvPr/>
        </p:nvSpPr>
        <p:spPr>
          <a:xfrm>
            <a:off x="249477" y="1408100"/>
            <a:ext cx="608869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Outputs:</a:t>
            </a:r>
            <a:endParaRPr lang="en-US" altLang="zh-CN" sz="2400" dirty="0"/>
          </a:p>
          <a:p>
            <a:r>
              <a:rPr lang="en-US" altLang="zh-CN" dirty="0"/>
              <a:t>·Annotated conveyor-belt video showing bottle IDs</a:t>
            </a:r>
          </a:p>
          <a:p>
            <a:r>
              <a:rPr lang="en-US" altLang="zh-CN" dirty="0"/>
              <a:t>·Red bounding boxes for defective</a:t>
            </a:r>
          </a:p>
          <a:p>
            <a:r>
              <a:rPr lang="en-US" altLang="zh-CN" dirty="0"/>
              <a:t>·Blue bounding boxes for normal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sz="2400" b="1" dirty="0"/>
              <a:t>Evaluation Metrics:</a:t>
            </a:r>
            <a:endParaRPr lang="en-US" altLang="zh-CN" sz="2400" dirty="0"/>
          </a:p>
          <a:p>
            <a:r>
              <a:rPr lang="en-US" altLang="zh-CN" dirty="0"/>
              <a:t>·Model accuracy ≈ 90–92%</a:t>
            </a:r>
          </a:p>
          <a:p>
            <a:r>
              <a:rPr lang="en-US" altLang="zh-CN" dirty="0"/>
              <a:t>·Precision &amp; recall for defect detection</a:t>
            </a:r>
          </a:p>
          <a:p>
            <a:r>
              <a:rPr lang="en-US" altLang="zh-CN" dirty="0"/>
              <a:t>·Real-time processing: ~15–20 FPS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sz="2400" b="1" dirty="0"/>
              <a:t>Visual Results:</a:t>
            </a:r>
            <a:endParaRPr lang="en-US" altLang="zh-CN" sz="2400" dirty="0"/>
          </a:p>
          <a:p>
            <a:r>
              <a:rPr lang="en-US" altLang="zh-CN" dirty="0"/>
              <a:t>·Confidence score displayed (0–1)</a:t>
            </a:r>
          </a:p>
          <a:p>
            <a:r>
              <a:rPr lang="en-US" altLang="zh-CN" dirty="0"/>
              <a:t>·“Total wrong bottles” counter</a:t>
            </a:r>
          </a:p>
        </p:txBody>
      </p:sp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087BED2E-A409-CDC7-E5E9-DBA81D6AF5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002" y="2381178"/>
            <a:ext cx="6434667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780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4F1FC-6E67-949F-D146-F95A43942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012C8-12E0-455F-83A1-6197AF1FB45C}" type="slidenum">
              <a:rPr lang="en-US" smtClean="0"/>
              <a:t>6</a:t>
            </a:fld>
            <a:endParaRPr lang="en-US" dirty="0"/>
          </a:p>
        </p:txBody>
      </p: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8DC2EB73-792C-8716-67C5-0821339990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443" y="80539"/>
            <a:ext cx="3406570" cy="735028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6D1840C5-A7DF-9A3A-C47F-5F6571088A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9582" y="815567"/>
            <a:ext cx="10848584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4000" b="1" i="0" u="none" strike="noStrike" cap="none" normalizeH="0" baseline="0" dirty="0">
                <a:ln>
                  <a:noFill/>
                </a:ln>
                <a:solidFill>
                  <a:srgbClr val="2C363A"/>
                </a:solidFill>
                <a:effectLst/>
                <a:latin typeface="Arial" panose="020B0604020202020204" pitchFamily="34" charset="0"/>
                <a:ea typeface="Roboto" panose="02000000000000000000" pitchFamily="2" charset="0"/>
              </a:rPr>
              <a:t>Comparison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97E6E9-70B1-1653-63E2-064E49A3CA8A}"/>
              </a:ext>
            </a:extLst>
          </p:cNvPr>
          <p:cNvSpPr txBox="1"/>
          <p:nvPr/>
        </p:nvSpPr>
        <p:spPr>
          <a:xfrm>
            <a:off x="299583" y="1431119"/>
            <a:ext cx="610121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Standard Industry Method:</a:t>
            </a:r>
            <a:endParaRPr lang="en-US" altLang="zh-CN" sz="2400" dirty="0"/>
          </a:p>
          <a:p>
            <a:r>
              <a:rPr lang="en-US" altLang="zh-CN" dirty="0"/>
              <a:t>·Manual inspection</a:t>
            </a:r>
          </a:p>
          <a:p>
            <a:r>
              <a:rPr lang="en-US" altLang="zh-CN" dirty="0"/>
              <a:t>·Basic threshold-based image analysis</a:t>
            </a:r>
          </a:p>
          <a:p>
            <a:endParaRPr lang="en-US" altLang="zh-CN" dirty="0"/>
          </a:p>
          <a:p>
            <a:r>
              <a:rPr lang="en-US" altLang="zh-CN" sz="2400" b="1" dirty="0"/>
              <a:t>Our System:</a:t>
            </a:r>
            <a:endParaRPr lang="en-US" altLang="zh-CN" sz="2400" dirty="0"/>
          </a:p>
          <a:p>
            <a:r>
              <a:rPr lang="en-US" altLang="zh-CN" dirty="0"/>
              <a:t>·CNN-based classification</a:t>
            </a:r>
          </a:p>
          <a:p>
            <a:r>
              <a:rPr lang="en-US" altLang="zh-CN" dirty="0"/>
              <a:t>·Multi-defect logic (shape + label + fill)</a:t>
            </a:r>
          </a:p>
          <a:p>
            <a:endParaRPr lang="en-US" altLang="zh-CN" dirty="0"/>
          </a:p>
          <a:p>
            <a:r>
              <a:rPr lang="en-US" altLang="zh-CN" sz="2400" b="1" dirty="0"/>
              <a:t>Reference Paper Benchmark:</a:t>
            </a:r>
            <a:endParaRPr lang="en-US" altLang="zh-CN" sz="2400" dirty="0"/>
          </a:p>
          <a:p>
            <a:r>
              <a:rPr lang="en-US" altLang="zh-CN" dirty="0"/>
              <a:t>·CNN-based bottle inspection — ~90% accuracy</a:t>
            </a:r>
          </a:p>
          <a:p>
            <a:r>
              <a:rPr lang="en-US" altLang="zh-CN" dirty="0"/>
              <a:t>·Our model — comparable performance in small</a:t>
            </a:r>
            <a:br>
              <a:rPr lang="en-US" altLang="zh-CN" dirty="0"/>
            </a:br>
            <a:r>
              <a:rPr lang="en-US" altLang="zh-CN" dirty="0"/>
              <a:t>  dataset conditions</a:t>
            </a:r>
          </a:p>
          <a:p>
            <a:endParaRPr lang="en-US" altLang="zh-CN" dirty="0"/>
          </a:p>
          <a:p>
            <a:r>
              <a:rPr lang="en-US" altLang="zh-CN" sz="2400" b="1" dirty="0"/>
              <a:t>Advantage:</a:t>
            </a:r>
            <a:endParaRPr lang="en-US" altLang="zh-CN" sz="2400" dirty="0"/>
          </a:p>
          <a:p>
            <a:r>
              <a:rPr lang="en-US" altLang="zh-CN" dirty="0"/>
              <a:t>·Real-time + low cost</a:t>
            </a:r>
          </a:p>
          <a:p>
            <a:r>
              <a:rPr lang="en-US" altLang="zh-CN" dirty="0"/>
              <a:t>·Scalable for industrial use</a:t>
            </a:r>
          </a:p>
        </p:txBody>
      </p:sp>
      <p:pic>
        <p:nvPicPr>
          <p:cNvPr id="5" name="Picture 4" descr="A person in white coats working on a machine">
            <a:extLst>
              <a:ext uri="{FF2B5EF4-FFF2-40B4-BE49-F238E27FC236}">
                <a16:creationId xmlns:a16="http://schemas.microsoft.com/office/drawing/2014/main" id="{3E99DD9A-3D6B-81B0-5210-B208D3CE44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537" y="1135822"/>
            <a:ext cx="6907463" cy="46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842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05797-CD08-54A7-20F7-A9D4129B0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012C8-12E0-455F-83A1-6197AF1FB45C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39176F92-85C1-600B-80B0-4A93278C7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443" y="80539"/>
            <a:ext cx="3406570" cy="735028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D111C4A3-C3CE-E25A-F12D-A43EC7A28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536" y="322913"/>
            <a:ext cx="9958192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4000" b="1" i="0" u="none" strike="noStrike" cap="none" normalizeH="0" baseline="0" dirty="0">
                <a:ln>
                  <a:noFill/>
                </a:ln>
                <a:solidFill>
                  <a:srgbClr val="2C363A"/>
                </a:solidFill>
                <a:effectLst/>
                <a:latin typeface="Arial" panose="020B0604020202020204" pitchFamily="34" charset="0"/>
                <a:ea typeface="Roboto" panose="02000000000000000000" pitchFamily="2" charset="0"/>
              </a:rPr>
              <a:t>Validation / Proof</a:t>
            </a:r>
            <a:endParaRPr kumimoji="0" lang="zh-CN" altLang="zh-CN" sz="4000" b="0" i="0" u="none" strike="noStrike" cap="none" normalizeH="0" baseline="0" dirty="0">
              <a:ln>
                <a:noFill/>
              </a:ln>
              <a:solidFill>
                <a:srgbClr val="2C363A"/>
              </a:solidFill>
              <a:effectLst/>
              <a:latin typeface="Arial" panose="020B0604020202020204" pitchFamily="34" charset="0"/>
              <a:ea typeface="Roboto" panose="02000000000000000000" pitchFamily="2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F391AFB-B96B-ADDE-705B-C0BD1D5EEEFF}"/>
              </a:ext>
            </a:extLst>
          </p:cNvPr>
          <p:cNvSpPr txBox="1"/>
          <p:nvPr/>
        </p:nvSpPr>
        <p:spPr>
          <a:xfrm>
            <a:off x="412536" y="1088166"/>
            <a:ext cx="492638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Validation Steps:</a:t>
            </a:r>
          </a:p>
          <a:p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Tested on mixed frames (good + defective)</a:t>
            </a:r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Multiple conveyor speeds</a:t>
            </a:r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Accuracy measured per frame</a:t>
            </a:r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Visual review + counter validation</a:t>
            </a:r>
          </a:p>
          <a:p>
            <a:endParaRPr lang="en-US" altLang="zh-CN" dirty="0"/>
          </a:p>
          <a:p>
            <a:r>
              <a:rPr lang="en-US" altLang="zh-CN" sz="2400" b="1" dirty="0"/>
              <a:t>Why reliable:</a:t>
            </a:r>
          </a:p>
          <a:p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Multiple datasets</a:t>
            </a:r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Frame-by-frame verification</a:t>
            </a:r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Confidence thresholding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9CF454-8300-6118-B406-C0B93CDC97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92" t="8347"/>
          <a:stretch>
            <a:fillRect/>
          </a:stretch>
        </p:blipFill>
        <p:spPr>
          <a:xfrm>
            <a:off x="4821208" y="2196538"/>
            <a:ext cx="6958256" cy="406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916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81" name="Group 308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3082" name="Rectangle 308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3" name="Rectangle 308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9" name="Rectangle 308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83E9F6AF-FF12-39E8-84BA-48FDF6827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423" y="1366858"/>
            <a:ext cx="4397433" cy="948823"/>
          </a:xfrm>
          <a:prstGeom prst="rect">
            <a:avLst/>
          </a:prstGeom>
        </p:spPr>
      </p:pic>
      <p:sp>
        <p:nvSpPr>
          <p:cNvPr id="3091" name="Rectangle 3090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5A2C0-40D5-F0B3-A63D-BACAF99AC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5070" y="6492240"/>
            <a:ext cx="105571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A3012C8-12E0-455F-83A1-6197AF1FB45C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EDAD537B-D4F6-3239-4125-6F8E8E36A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97" y="829486"/>
            <a:ext cx="6075538" cy="127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4000" b="1" i="0" u="none" strike="noStrike" cap="none" normalizeH="0" baseline="0" dirty="0">
                <a:ln>
                  <a:noFill/>
                </a:ln>
                <a:solidFill>
                  <a:srgbClr val="2C363A"/>
                </a:solidFill>
                <a:effectLst/>
                <a:latin typeface="Arial" panose="020B0604020202020204" pitchFamily="34" charset="0"/>
                <a:ea typeface="Roboto" panose="02000000000000000000" pitchFamily="2" charset="0"/>
              </a:rPr>
              <a:t>Discussion, Tangible Outputs &amp; Gaps</a:t>
            </a:r>
            <a:endParaRPr kumimoji="0" lang="zh-CN" altLang="zh-CN" sz="4000" b="0" i="0" u="none" strike="noStrike" cap="none" normalizeH="0" baseline="0" dirty="0">
              <a:ln>
                <a:noFill/>
              </a:ln>
              <a:solidFill>
                <a:srgbClr val="2C363A"/>
              </a:solidFill>
              <a:effectLst/>
              <a:latin typeface="Arial" panose="020B0604020202020204" pitchFamily="34" charset="0"/>
              <a:ea typeface="Roboto" panose="02000000000000000000" pitchFamily="2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DDBAFBF-9F64-013C-1006-04072DC0BF0A}"/>
              </a:ext>
            </a:extLst>
          </p:cNvPr>
          <p:cNvSpPr txBox="1"/>
          <p:nvPr/>
        </p:nvSpPr>
        <p:spPr>
          <a:xfrm>
            <a:off x="87363" y="2092598"/>
            <a:ext cx="610017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Working Deliverables:</a:t>
            </a:r>
            <a:endParaRPr lang="en-US" altLang="zh-CN" sz="2400" dirty="0"/>
          </a:p>
          <a:p>
            <a:r>
              <a:rPr lang="en-US" altLang="zh-CN" dirty="0"/>
              <a:t>·Trained CNN model</a:t>
            </a:r>
          </a:p>
          <a:p>
            <a:r>
              <a:rPr lang="en-US" altLang="zh-CN" dirty="0"/>
              <a:t>·Automated detection video</a:t>
            </a:r>
          </a:p>
          <a:p>
            <a:r>
              <a:rPr lang="en-US" altLang="zh-CN" dirty="0"/>
              <a:t>·Defect UI panel for each bottle</a:t>
            </a:r>
          </a:p>
          <a:p>
            <a:r>
              <a:rPr lang="en-US" altLang="zh-CN" dirty="0"/>
              <a:t>·Wrong bottle counter</a:t>
            </a:r>
          </a:p>
          <a:p>
            <a:endParaRPr lang="en-US" altLang="zh-CN" dirty="0"/>
          </a:p>
          <a:p>
            <a:r>
              <a:rPr lang="en-US" altLang="zh-CN" sz="2400" b="1" dirty="0"/>
              <a:t>Limitations:</a:t>
            </a:r>
            <a:endParaRPr lang="en-US" altLang="zh-CN" sz="2400" dirty="0"/>
          </a:p>
          <a:p>
            <a:r>
              <a:rPr lang="en-US" altLang="zh-CN" dirty="0"/>
              <a:t>·Dataset small</a:t>
            </a:r>
          </a:p>
          <a:p>
            <a:r>
              <a:rPr lang="en-US" altLang="zh-CN" dirty="0"/>
              <a:t>·No advanced object tracking</a:t>
            </a:r>
          </a:p>
          <a:p>
            <a:r>
              <a:rPr lang="en-US" altLang="zh-CN" dirty="0"/>
              <a:t>·Cannot detect all defect types</a:t>
            </a:r>
          </a:p>
          <a:p>
            <a:endParaRPr lang="en-US" altLang="zh-CN" dirty="0"/>
          </a:p>
          <a:p>
            <a:r>
              <a:rPr lang="en-US" altLang="zh-CN" sz="2400" b="1" dirty="0"/>
              <a:t>Future Work:</a:t>
            </a:r>
          </a:p>
          <a:p>
            <a:r>
              <a:rPr lang="en-US" altLang="zh-CN" b="1" dirty="0"/>
              <a:t>·</a:t>
            </a:r>
            <a:r>
              <a:rPr lang="en-US" altLang="zh-CN" dirty="0"/>
              <a:t>YOLO-based detection for bottle segmentation</a:t>
            </a:r>
          </a:p>
          <a:p>
            <a:r>
              <a:rPr lang="en-US" altLang="zh-CN" dirty="0"/>
              <a:t>·Larger dataset</a:t>
            </a:r>
          </a:p>
          <a:p>
            <a:r>
              <a:rPr lang="en-US" altLang="zh-CN" dirty="0"/>
              <a:t>·Multi-camera analysis</a:t>
            </a:r>
          </a:p>
          <a:p>
            <a:r>
              <a:rPr lang="en-US" altLang="zh-CN" dirty="0"/>
              <a:t>·Integration with PLC for rejection gate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556591-C179-38B8-3F38-BE7024346F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686" y="3475503"/>
            <a:ext cx="4845490" cy="302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491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10BD30-AE98-A511-078F-26593C6E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012C8-12E0-455F-83A1-6197AF1FB45C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36B0AAD-ECDE-1D4F-D491-F8AF01A52C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37366" y="257637"/>
            <a:ext cx="8030227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4000" b="1" i="0" u="none" strike="noStrike" cap="none" normalizeH="0" baseline="0" dirty="0">
                <a:ln>
                  <a:noFill/>
                </a:ln>
                <a:solidFill>
                  <a:srgbClr val="2C363A"/>
                </a:solidFill>
                <a:effectLst/>
                <a:latin typeface="Arial" panose="020B0604020202020204" pitchFamily="34" charset="0"/>
                <a:ea typeface="Roboto" panose="02000000000000000000" pitchFamily="2" charset="0"/>
              </a:rPr>
              <a:t>Demo video</a:t>
            </a:r>
            <a:endParaRPr kumimoji="0" lang="zh-CN" altLang="zh-CN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1185021A-769E-2705-DF36-313D8DD28B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443" y="80539"/>
            <a:ext cx="3406570" cy="735028"/>
          </a:xfrm>
          <a:prstGeom prst="rect">
            <a:avLst/>
          </a:prstGeom>
        </p:spPr>
      </p:pic>
      <p:pic>
        <p:nvPicPr>
          <p:cNvPr id="2" name="conveyor_output_ui (4)">
            <a:hlinkClick r:id="" action="ppaction://media"/>
            <a:extLst>
              <a:ext uri="{FF2B5EF4-FFF2-40B4-BE49-F238E27FC236}">
                <a16:creationId xmlns:a16="http://schemas.microsoft.com/office/drawing/2014/main" id="{A5BCAEF5-3D95-E464-EC60-B7836FB0286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81109" y="1749778"/>
            <a:ext cx="11642536" cy="390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754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332C2-220E-5C4F-5ADC-4200B52CC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2116"/>
            <a:ext cx="10515600" cy="5714847"/>
          </a:xfrm>
        </p:spPr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3600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A3C26-7AE1-FA82-178E-B979502D5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012C8-12E0-455F-83A1-6197AF1FB45C}" type="slidenum">
              <a:rPr lang="en-US" smtClean="0"/>
              <a:t>10</a:t>
            </a:fld>
            <a:endParaRPr lang="en-US"/>
          </a:p>
        </p:txBody>
      </p:sp>
      <p:pic>
        <p:nvPicPr>
          <p:cNvPr id="2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F1E756A8-BEA0-581A-FD7A-349B5133C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443" y="80539"/>
            <a:ext cx="3406570" cy="73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69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7078</TotalTime>
  <Words>633</Words>
  <Application>Microsoft Office PowerPoint</Application>
  <PresentationFormat>Widescreen</PresentationFormat>
  <Paragraphs>118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Arial Narrow</vt:lpstr>
      <vt:lpstr>Office Theme</vt:lpstr>
      <vt:lpstr>Topic &amp; Overview  Title: NLP for Quality Control Reports in Production Line  Presented by: Teja Tadisetty                          Boshi Zhao                          Anandu Hari  Guided by:      Dr.Hamidreza Heidari  Industrial Problem: Manual visual inspection of bottles on production lines is slow, error-prone, and unsafe at high conveyor speeds.  Main Goal: Develop an AI-based system to automatically classify good vs defective bottles in real time, with explainable insights using NLP.  </vt:lpstr>
      <vt:lpstr>PowerPoint Presentation</vt:lpstr>
      <vt:lpstr>PowerPoint Presentation</vt:lpstr>
      <vt:lpstr>Algorithm + Simulation Flowchart (Part 2)</vt:lpstr>
      <vt:lpstr> Outputs &amp; Results</vt:lpstr>
      <vt:lpstr>Comparison </vt:lpstr>
      <vt:lpstr>PowerPoint Presentation</vt:lpstr>
      <vt:lpstr>PowerPoint Presentation</vt:lpstr>
      <vt:lpstr>Demo video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 Tadisetty</dc:creator>
  <cp:lastModifiedBy>teja Tadisetty</cp:lastModifiedBy>
  <cp:revision>50</cp:revision>
  <dcterms:created xsi:type="dcterms:W3CDTF">2025-11-01T05:18:46Z</dcterms:created>
  <dcterms:modified xsi:type="dcterms:W3CDTF">2025-12-19T14:43:07Z</dcterms:modified>
</cp:coreProperties>
</file>